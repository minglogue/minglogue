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c320b8e3d6a43af" /><Relationship Type="http://schemas.openxmlformats.org/officeDocument/2006/relationships/extended-properties" Target="/docProps/app.xml" Id="R8fa934a92c0941f4" /><Relationship Type="http://schemas.openxmlformats.org/officeDocument/2006/relationships/officeDocument" Target="/ppt/presentation.xml" Id="R5fee57641f3c49cf" /></Relationships>
</file>

<file path=ppt/presentation.xml><?xml version="1.0" encoding="utf-8"?>
<p:presentation xmlns:p="http://schemas.openxmlformats.org/presentationml/2006/main">
  <p:sldMasterIdLst>
    <p:sldMasterId xmlns:r="http://schemas.openxmlformats.org/officeDocument/2006/relationships" id="2147483648" r:id="R3dc847d897584069"/>
  </p:sldMasterIdLst>
  <p:notesMasterIdLst>
    <p:notesMasterId xmlns:r="http://schemas.openxmlformats.org/officeDocument/2006/relationships" r:id="R284aa76304164615"/>
  </p:notesMasterIdLst>
  <p:sldIdLst>
    <p:sldId xmlns:r="http://schemas.openxmlformats.org/officeDocument/2006/relationships" id="256" r:id="Rffabd8dded5e4075"/>
    <p:sldId xmlns:r="http://schemas.openxmlformats.org/officeDocument/2006/relationships" id="257" r:id="Rf04c434ad8f544db"/>
    <p:sldId xmlns:r="http://schemas.openxmlformats.org/officeDocument/2006/relationships" id="258" r:id="R45da19d9083f4246"/>
    <p:sldId xmlns:r="http://schemas.openxmlformats.org/officeDocument/2006/relationships" id="259" r:id="R30f3e94300f84f14"/>
    <p:sldId xmlns:r="http://schemas.openxmlformats.org/officeDocument/2006/relationships" id="260" r:id="Ra1db752e1d7d4c20"/>
    <p:sldId xmlns:r="http://schemas.openxmlformats.org/officeDocument/2006/relationships" id="261" r:id="Rdca0405d17154d9f"/>
    <p:sldId xmlns:r="http://schemas.openxmlformats.org/officeDocument/2006/relationships" id="262" r:id="R9d1d174fc1bf4c4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62d19baabee4d16" /><Relationship Type="http://schemas.openxmlformats.org/officeDocument/2006/relationships/slideMaster" Target="/ppt/slideMasters/slideMaster1.xml" Id="R3dc847d897584069" /><Relationship Type="http://schemas.openxmlformats.org/officeDocument/2006/relationships/notesMaster" Target="/ppt/notesMasters/notesMaster1.xml" Id="R284aa76304164615" /><Relationship Type="http://schemas.openxmlformats.org/officeDocument/2006/relationships/presProps" Target="/ppt/presProps.xml" Id="R75d8593c7c1f40d6" /><Relationship Type="http://schemas.openxmlformats.org/officeDocument/2006/relationships/tableStyles" Target="/ppt/tableStyles.xml" Id="R36f8f6c8f6764a9b" /><Relationship Type="http://schemas.openxmlformats.org/officeDocument/2006/relationships/slide" Target="/ppt/slides/slide1.xml" Id="Rffabd8dded5e4075" /><Relationship Type="http://schemas.openxmlformats.org/officeDocument/2006/relationships/slide" Target="/ppt/slides/slide2.xml" Id="Rf04c434ad8f544db" /><Relationship Type="http://schemas.openxmlformats.org/officeDocument/2006/relationships/slide" Target="/ppt/slides/slide3.xml" Id="R45da19d9083f4246" /><Relationship Type="http://schemas.openxmlformats.org/officeDocument/2006/relationships/slide" Target="/ppt/slides/slide4.xml" Id="R30f3e94300f84f14" /><Relationship Type="http://schemas.openxmlformats.org/officeDocument/2006/relationships/slide" Target="/ppt/slides/slide5.xml" Id="Ra1db752e1d7d4c20" /><Relationship Type="http://schemas.openxmlformats.org/officeDocument/2006/relationships/slide" Target="/ppt/slides/slide6.xml" Id="Rdca0405d17154d9f" /><Relationship Type="http://schemas.openxmlformats.org/officeDocument/2006/relationships/slide" Target="/ppt/slides/slide7.xml" Id="R9d1d174fc1bf4c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c509d9511f4e8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270e6fb498c4854" /><Relationship Type="http://schemas.openxmlformats.org/officeDocument/2006/relationships/notesMaster" Target="/ppt/notesMasters/notesMaster1.xml" Id="R482aeb9ffd91421c" /></Relationships>
</file>

<file path=ppt/notesSlides/_rels/notesSlide2.xml.rels>&#65279;<?xml version="1.0" encoding="utf-8"?><Relationships xmlns="http://schemas.openxmlformats.org/package/2006/relationships"><Relationship Type="http://schemas.openxmlformats.org/officeDocument/2006/relationships/slide" Target="/ppt/slides/slide2.xml" Id="R4a4815fcd93a4a3f" /><Relationship Type="http://schemas.openxmlformats.org/officeDocument/2006/relationships/notesMaster" Target="/ppt/notesMasters/notesMaster1.xml" Id="Rd181bd3da8ee4cdb"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8b0aa4c41e4da2" /><Relationship Type="http://schemas.openxmlformats.org/officeDocument/2006/relationships/notesMaster" Target="/ppt/notesMasters/notesMaster1.xml" Id="R2f5bdec383e24a6d" /></Relationships>
</file>

<file path=ppt/notesSlides/_rels/notesSlide4.xml.rels>&#65279;<?xml version="1.0" encoding="utf-8"?><Relationships xmlns="http://schemas.openxmlformats.org/package/2006/relationships"><Relationship Type="http://schemas.openxmlformats.org/officeDocument/2006/relationships/slide" Target="/ppt/slides/slide4.xml" Id="R18fbbe07a1574dae" /><Relationship Type="http://schemas.openxmlformats.org/officeDocument/2006/relationships/notesMaster" Target="/ppt/notesMasters/notesMaster1.xml" Id="Rc3adf799bb654878" /></Relationships>
</file>

<file path=ppt/notesSlides/_rels/notesSlide5.xml.rels>&#65279;<?xml version="1.0" encoding="utf-8"?><Relationships xmlns="http://schemas.openxmlformats.org/package/2006/relationships"><Relationship Type="http://schemas.openxmlformats.org/officeDocument/2006/relationships/slide" Target="/ppt/slides/slide5.xml" Id="R8ede0db7f7e64108" /><Relationship Type="http://schemas.openxmlformats.org/officeDocument/2006/relationships/notesMaster" Target="/ppt/notesMasters/notesMaster1.xml" Id="Rf5d3f1bc551a4db5" /></Relationships>
</file>

<file path=ppt/notesSlides/_rels/notesSlide6.xml.rels>&#65279;<?xml version="1.0" encoding="utf-8"?><Relationships xmlns="http://schemas.openxmlformats.org/package/2006/relationships"><Relationship Type="http://schemas.openxmlformats.org/officeDocument/2006/relationships/slide" Target="/ppt/slides/slide6.xml" Id="R0a16dbc04b4f404b" /><Relationship Type="http://schemas.openxmlformats.org/officeDocument/2006/relationships/notesMaster" Target="/ppt/notesMasters/notesMaster1.xml" Id="R93397441a5354743" /></Relationships>
</file>

<file path=ppt/notesSlides/_rels/notesSlide7.xml.rels>&#65279;<?xml version="1.0" encoding="utf-8"?><Relationships xmlns="http://schemas.openxmlformats.org/package/2006/relationships"><Relationship Type="http://schemas.openxmlformats.org/officeDocument/2006/relationships/slide" Target="/ppt/slides/slide7.xml" Id="R434428f08d204940" /><Relationship Type="http://schemas.openxmlformats.org/officeDocument/2006/relationships/notesMaster" Target="/ppt/notesMasters/notesMaster1.xml" Id="R0a54da5d51a645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프로젝트는 피부과에서 여러 팀에 흩어져 있던 환자 진행 정보를 하나의 시트로 연결한 내부 도구 개선 사례입니다. 상담부터 마취, 시술, 피부 관리까지 현재 단계와 대기 상황을 한 화면에서 확인해 누락과 병목에 더 빠르게 대응하는 것이 목표였습니다.</a:t>
            </a:r>
          </a:p>
          <a:p xmlns:a="http://schemas.openxmlformats.org/drawingml/2006/main">
            <a:r>
              <a:t/>
            </a:r>
          </a:p>
          <a:p xmlns:a="http://schemas.openxmlformats.org/drawingml/2006/main">
            <a:r>
              <a:t>[Sources]</a:t>
            </a:r>
          </a:p>
          <a:p xmlns:a="http://schemas.openxmlformats.org/drawingml/2006/main">
            <a:r>
              <a:t>- /Users/mcs/Documents/Codex/2026-07-26/new-chat/content/portfolio/published/0002-treatment-flow-arrangement-sheet.md</a:t>
            </a:r>
          </a:p>
          <a:p xmlns:a="http://schemas.openxmlformats.org/drawingml/2006/main">
            <a:r>
              <a:t>- Images: /Users/mcs/Documents/Codex/2026-07-26/new-chat/content/media</a:t>
            </a:r>
          </a:p>
          <a:p xmlns:a="http://schemas.openxmlformats.org/drawingml/2006/main">
            <a:r>
              <a:t>- Observed waiting-time change is reported as field observation, not a controlled causal estimate.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기존에는 CRM과 별도의 시트에 정보가 나뉘어 있었습니다. 기록을 모두 입력해야 다음 단계로 넘어가는 CRM의 특성 때문에 시스템 기록과 실제 진행이 어긋나기도 했습니다. 복잡한 날에는 전체 대기시간이 3~4시간까지 이어졌고, 시술 누락이나 팩 후 방치 같은 문제가 발생했습니다.</a:t>
            </a:r>
          </a:p>
          <a:p xmlns:a="http://schemas.openxmlformats.org/drawingml/2006/main">
            <a:r>
              <a:t/>
            </a:r>
          </a:p>
          <a:p xmlns:a="http://schemas.openxmlformats.org/drawingml/2006/main">
            <a:r>
              <a:t>[Sources]</a:t>
            </a:r>
          </a:p>
          <a:p xmlns:a="http://schemas.openxmlformats.org/drawingml/2006/main">
            <a:r>
              <a:t>- /Users/mcs/Documents/Codex/2026-07-26/new-chat/content/portfolio/published/0002-treatment-flow-arrangement-sheet.md</a:t>
            </a:r>
          </a:p>
          <a:p xmlns:a="http://schemas.openxmlformats.org/drawingml/2006/main">
            <a:r>
              <a:t>- Images: /Users/mcs/Documents/Codex/2026-07-26/new-chat/content/media</a:t>
            </a:r>
          </a:p>
          <a:p xmlns:a="http://schemas.openxmlformats.org/drawingml/2006/main">
            <a:r>
              <a:t>- Observed waiting-time change is reported as field observation, not a controlled causal estimate.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시트의 한 행에 한 시술 원칙은 유지하면서 정보의 순서를 실제 업무 흐름에 맞게 다시 구성했습니다. 같은 고객이 여러 시술을 받을 때는 행을 시각적으로 묶고, 상담 정보와 시술명, 담당자, 의료진 호출, 마무리 정보를 한 흐름 안에서 확인하도록 배치했습니다.</a:t>
            </a:r>
          </a:p>
          <a:p xmlns:a="http://schemas.openxmlformats.org/drawingml/2006/main">
            <a:r>
              <a:t/>
            </a:r>
          </a:p>
          <a:p xmlns:a="http://schemas.openxmlformats.org/drawingml/2006/main">
            <a:r>
              <a:t>[Sources]</a:t>
            </a:r>
          </a:p>
          <a:p xmlns:a="http://schemas.openxmlformats.org/drawingml/2006/main">
            <a:r>
              <a:t>- /Users/mcs/Documents/Codex/2026-07-26/new-chat/content/portfolio/published/0002-treatment-flow-arrangement-sheet.md</a:t>
            </a:r>
          </a:p>
          <a:p xmlns:a="http://schemas.openxmlformats.org/drawingml/2006/main">
            <a:r>
              <a:t>- Images: /Users/mcs/Documents/Codex/2026-07-26/new-chat/content/media</a:t>
            </a:r>
          </a:p>
          <a:p xmlns:a="http://schemas.openxmlformats.org/drawingml/2006/main">
            <a:r>
              <a:t>- Observed waiting-time change is reported as field observation, not a controlled causal estimate.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시간 기록과 예정 시간 계산은 Google Apps Script로 자동화했습니다. 조건부 서식은 지연된 시술, 필수 정보 누락, 담당 의료진 미지정 상태가 바로 보이도록 설계했습니다. 코드가 작동하는 것만으로 끝내지 않고 단계가 되돌아가거나 담당자가 바뀌는 예외를 실제 시트에서 반복 확인했습니다.</a:t>
            </a:r>
          </a:p>
          <a:p xmlns:a="http://schemas.openxmlformats.org/drawingml/2006/main">
            <a:r>
              <a:t/>
            </a:r>
          </a:p>
          <a:p xmlns:a="http://schemas.openxmlformats.org/drawingml/2006/main">
            <a:r>
              <a:t>[Sources]</a:t>
            </a:r>
          </a:p>
          <a:p xmlns:a="http://schemas.openxmlformats.org/drawingml/2006/main">
            <a:r>
              <a:t>- /Users/mcs/Documents/Codex/2026-07-26/new-chat/content/portfolio/published/0002-treatment-flow-arrangement-sheet.md</a:t>
            </a:r>
          </a:p>
          <a:p xmlns:a="http://schemas.openxmlformats.org/drawingml/2006/main">
            <a:r>
              <a:t>- Images: /Users/mcs/Documents/Codex/2026-07-26/new-chat/content/media</a:t>
            </a:r>
          </a:p>
          <a:p xmlns:a="http://schemas.openxmlformats.org/drawingml/2006/main">
            <a:r>
              <a:t>- Observed waiting-time change is reported as field observation, not a controlled causal estimate.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시술별 진행 시간과 대기 중 예상 시간, 원내 인력 현황을 함께 볼 수 있게 구성했습니다. 상담팀, 간호팀, 피부관리팀, 의료진이 같은 화면을 보면서 현재 병목이 어디인지, 누가 다음 업무를 맡을 수 있는지 판단하도록 한 것입니다.</a:t>
            </a:r>
          </a:p>
          <a:p xmlns:a="http://schemas.openxmlformats.org/drawingml/2006/main">
            <a:r>
              <a:t/>
            </a:r>
          </a:p>
          <a:p xmlns:a="http://schemas.openxmlformats.org/drawingml/2006/main">
            <a:r>
              <a:t>[Sources]</a:t>
            </a:r>
          </a:p>
          <a:p xmlns:a="http://schemas.openxmlformats.org/drawingml/2006/main">
            <a:r>
              <a:t>- /Users/mcs/Documents/Codex/2026-07-26/new-chat/content/portfolio/published/0002-treatment-flow-arrangement-sheet.md</a:t>
            </a:r>
          </a:p>
          <a:p xmlns:a="http://schemas.openxmlformats.org/drawingml/2006/main">
            <a:r>
              <a:t>- Images: /Users/mcs/Documents/Codex/2026-07-26/new-chat/content/media</a:t>
            </a:r>
          </a:p>
          <a:p xmlns:a="http://schemas.openxmlformats.org/drawingml/2006/main">
            <a:r>
              <a:t>- Observed waiting-time change is reported as field observation, not a controlled causal estimate.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개선 과정은 관찰, 문제 정의, 구조 설계, 기능 구현, 실제 도입의 순서로 진행했습니다. 현장에서 관찰한 대기시간은 기존 약 2~3시간에서 약 20~30분 수준으로 줄어든 경우가 있었습니다. 다만 이 수치는 시트 개선만의 단독 효과로 검증한 결과가 아니며 고객 수, 시술 종류, 인력 배치 등 여러 조건이 함께 작용했습니다.</a:t>
            </a:r>
          </a:p>
          <a:p xmlns:a="http://schemas.openxmlformats.org/drawingml/2006/main">
            <a:r>
              <a:t/>
            </a:r>
          </a:p>
          <a:p xmlns:a="http://schemas.openxmlformats.org/drawingml/2006/main">
            <a:r>
              <a:t>[Sources]</a:t>
            </a:r>
          </a:p>
          <a:p xmlns:a="http://schemas.openxmlformats.org/drawingml/2006/main">
            <a:r>
              <a:t>- /Users/mcs/Documents/Codex/2026-07-26/new-chat/content/portfolio/published/0002-treatment-flow-arrangement-sheet.md</a:t>
            </a:r>
          </a:p>
          <a:p xmlns:a="http://schemas.openxmlformats.org/drawingml/2006/main">
            <a:r>
              <a:t>- Images: /Users/mcs/Documents/Codex/2026-07-26/new-chat/content/media</a:t>
            </a:r>
          </a:p>
          <a:p xmlns:a="http://schemas.openxmlformats.org/drawingml/2006/main">
            <a:r>
              <a:t>- Observed waiting-time change is reported as field observation, not a controlled causal estimate.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프로젝트를 통해 현장을 관찰하고, 여러 사용자의 요구를 하나의 정보 구조로 정리하며, 실제로 운영되는 도구까지 구현하는 역량을 보여드렸습니다. 좋은 기능은 단순히 많이 넣는 것이 아니라 사용자가 다음 행동을 쉽게 판단하고 조직의 목표와 연결될 때 의미가 있습니다. 이 경험을 콘텐츠 기획과 브랜드 마케팅에도 같은 방식으로 적용하고 싶습니다.</a:t>
            </a:r>
          </a:p>
          <a:p xmlns:a="http://schemas.openxmlformats.org/drawingml/2006/main">
            <a:r>
              <a:t/>
            </a:r>
          </a:p>
          <a:p xmlns:a="http://schemas.openxmlformats.org/drawingml/2006/main">
            <a:r>
              <a:t>[Sources]</a:t>
            </a:r>
          </a:p>
          <a:p xmlns:a="http://schemas.openxmlformats.org/drawingml/2006/main">
            <a:r>
              <a:t>- /Users/mcs/Documents/Codex/2026-07-26/new-chat/content/portfolio/published/0002-treatment-flow-arrangement-sheet.md</a:t>
            </a:r>
          </a:p>
          <a:p xmlns:a="http://schemas.openxmlformats.org/drawingml/2006/main">
            <a:r>
              <a:t>- Images: /Users/mcs/Documents/Codex/2026-07-26/new-chat/content/media</a:t>
            </a:r>
          </a:p>
          <a:p xmlns:a="http://schemas.openxmlformats.org/drawingml/2006/main">
            <a:r>
              <a:t>- Observed waiting-time change is reported as field observation, not a controlled causal estimate.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f4f49fe3936405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3fae43b388c4d6f" /><Relationship Type="http://schemas.openxmlformats.org/officeDocument/2006/relationships/slideLayout" Target="/ppt/slideLayouts/slideLayout1.xml" Id="R422c59c5c4db476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2c59c5c4db476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edf0ae3dd574e6d" /><Relationship Type="http://schemas.openxmlformats.org/officeDocument/2006/relationships/image" Target="/ppt/media/image.png" Id="Rc6f9d6f197934053" /><Relationship Type="http://schemas.openxmlformats.org/officeDocument/2006/relationships/notesSlide" Target="/ppt/notesSlides/notesSlide1.xml" Id="Rd1e5000677d44e8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a27dc3608034f30" /><Relationship Type="http://schemas.openxmlformats.org/officeDocument/2006/relationships/notesSlide" Target="/ppt/notesSlides/notesSlide2.xml" Id="Rbfa0a9413c04455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8637f9e6f34453f" /><Relationship Type="http://schemas.openxmlformats.org/officeDocument/2006/relationships/image" Target="/ppt/media/image2.png" Id="R9f79e36463294464" /><Relationship Type="http://schemas.openxmlformats.org/officeDocument/2006/relationships/notesSlide" Target="/ppt/notesSlides/notesSlide3.xml" Id="R1e8be13dc903415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ad97a144a8641ec" /><Relationship Type="http://schemas.openxmlformats.org/officeDocument/2006/relationships/image" Target="/ppt/media/image3.png" Id="R2814f979cbb0481a" /><Relationship Type="http://schemas.openxmlformats.org/officeDocument/2006/relationships/notesSlide" Target="/ppt/notesSlides/notesSlide4.xml" Id="R5628326883e44fe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9faa7370ce14f9d" /><Relationship Type="http://schemas.openxmlformats.org/officeDocument/2006/relationships/image" Target="/ppt/media/image4.png" Id="R7a7c7a4509d14b6a" /><Relationship Type="http://schemas.openxmlformats.org/officeDocument/2006/relationships/notesSlide" Target="/ppt/notesSlides/notesSlide5.xml" Id="R2eb605af8ff744e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708379e970a4b19" /><Relationship Type="http://schemas.openxmlformats.org/officeDocument/2006/relationships/notesSlide" Target="/ppt/notesSlides/notesSlide6.xml" Id="Rea57caefc01642d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f10a0040c84403a" /><Relationship Type="http://schemas.openxmlformats.org/officeDocument/2006/relationships/notesSlide" Target="/ppt/notesSlides/notesSlide7.xml" Id="R8dd3ab206b7c438d" /></Relationships>
</file>

<file path=ppt/slides/slide1.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9" name="green-band">
            <a:extLst xmlns:a="http://schemas.openxmlformats.org/drawingml/2006/main">
              <a:ext uri="{FF2B5EF4-FFF2-40B4-BE49-F238E27FC236}">
                <a16:creationId xmlns:a16="http://schemas.microsoft.com/office/drawing/2014/main" id="{8E71B19B-41AD-42C4-9785-C29B8BCC3811}"/>
              </a:ext>
            </a:extLst>
          </p:cNvPr>
          <p:cNvSpPr>
            <a:spLocks xmlns:a="http://schemas.openxmlformats.org/drawingml/2006/main" noGrp="1"/>
          </p:cNvSpPr>
          <p:nvPr/>
        </p:nvSpPr>
        <p:spPr>
          <a:xfrm xmlns:a="http://schemas.openxmlformats.org/drawingml/2006/main">
            <a:off x="0" y="0"/>
            <a:ext cx="247650" cy="6858000"/>
          </a:xfrm>
          <a:prstGeom xmlns:a="http://schemas.openxmlformats.org/drawingml/2006/main" prst="rect">
            <a:avLst/>
          </a:prstGeom>
          <a:solidFill xmlns:a="http://schemas.openxmlformats.org/drawingml/2006/main">
            <a:srgbClr val="87B978"/>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63E4F0C7-F2A8-401A-BCED-63C01346680D}"/>
              </a:ext>
            </a:extLst>
          </p:cNvPr>
          <p:cNvSpPr>
            <a:spLocks xmlns:a="http://schemas.openxmlformats.org/drawingml/2006/main" noGrp="1"/>
          </p:cNvSpPr>
          <p:nvPr/>
        </p:nvSpPr>
        <p:spPr>
          <a:xfrm xmlns:a="http://schemas.openxmlformats.org/drawingml/2006/main">
            <a:off x="609600" y="4572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687779"/>
                </a:solidFill>
                <a:latin typeface="Apple SD Gothic Neo"/>
                <a:ea typeface="Apple SD Gothic Neo"/>
                <a:cs typeface="Apple SD Gothic Neo"/>
              </a:defRPr>
            </a:pPr>
            <a:r>
              <a:rPr sz="1125" b="1">
                <a:solidFill>
                  <a:srgbClr val="687779"/>
                </a:solidFill>
                <a:latin typeface="Apple SD Gothic Neo"/>
                <a:ea typeface="Apple SD Gothic Neo"/>
                <a:cs typeface="Apple SD Gothic Neo"/>
              </a:rPr>
              <a:t>MINGVENTORY · OPERATIONS PROJECT</a:t>
            </a:r>
          </a:p>
        </p:txBody>
      </p:sp>
      <p:sp>
        <p:nvSpPr>
          <p:cNvPr id="3" name="title">
            <a:extLst xmlns:a="http://schemas.openxmlformats.org/drawingml/2006/main">
              <a:ext uri="{FF2B5EF4-FFF2-40B4-BE49-F238E27FC236}">
                <a16:creationId xmlns:a16="http://schemas.microsoft.com/office/drawing/2014/main" id="{8B7244C5-8EDB-4E88-9EC3-FDBA6E9A3CAD}"/>
              </a:ext>
            </a:extLst>
          </p:cNvPr>
          <p:cNvSpPr>
            <a:spLocks xmlns:a="http://schemas.openxmlformats.org/drawingml/2006/main" noGrp="1"/>
          </p:cNvSpPr>
          <p:nvPr/>
        </p:nvSpPr>
        <p:spPr>
          <a:xfrm xmlns:a="http://schemas.openxmlformats.org/drawingml/2006/main">
            <a:off x="609600" y="1381125"/>
            <a:ext cx="7239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4200" b="1">
                <a:solidFill>
                  <a:srgbClr val="17363C"/>
                </a:solidFill>
                <a:latin typeface="Apple SD Gothic Neo"/>
                <a:ea typeface="Apple SD Gothic Neo"/>
                <a:cs typeface="Apple SD Gothic Neo"/>
              </a:defRPr>
            </a:pPr>
            <a:r>
              <a:rPr sz="4200" b="1">
                <a:solidFill>
                  <a:srgbClr val="17363C"/>
                </a:solidFill>
                <a:latin typeface="Apple SD Gothic Neo"/>
                <a:ea typeface="Apple SD Gothic Neo"/>
                <a:cs typeface="Apple SD Gothic Neo"/>
              </a:rPr>
              <a:t>피부과 시술 진행·</a:t>
            </a:r>
          </a:p>
          <a:p xmlns:a="http://schemas.openxmlformats.org/drawingml/2006/main">
            <a:pPr algn="l">
              <a:defRPr sz="4200" b="1">
                <a:solidFill>
                  <a:srgbClr val="17363C"/>
                </a:solidFill>
                <a:latin typeface="Apple SD Gothic Neo"/>
                <a:ea typeface="Apple SD Gothic Neo"/>
                <a:cs typeface="Apple SD Gothic Neo"/>
              </a:defRPr>
            </a:pPr>
            <a:r>
              <a:rPr sz="4200" b="1">
                <a:solidFill>
                  <a:srgbClr val="17363C"/>
                </a:solidFill>
                <a:latin typeface="Apple SD Gothic Neo"/>
                <a:ea typeface="Apple SD Gothic Neo"/>
                <a:cs typeface="Apple SD Gothic Neo"/>
              </a:rPr>
              <a:t>대기시간 관리 시트 고도화</a:t>
            </a:r>
          </a:p>
        </p:txBody>
      </p:sp>
      <p:sp>
        <p:nvSpPr>
          <p:cNvPr id="4" name="subtitle">
            <a:extLst xmlns:a="http://schemas.openxmlformats.org/drawingml/2006/main">
              <a:ext uri="{FF2B5EF4-FFF2-40B4-BE49-F238E27FC236}">
                <a16:creationId xmlns:a16="http://schemas.microsoft.com/office/drawing/2014/main" id="{0487964F-7D90-4F5D-80D2-6A13C3814798}"/>
              </a:ext>
            </a:extLst>
          </p:cNvPr>
          <p:cNvSpPr>
            <a:spLocks xmlns:a="http://schemas.openxmlformats.org/drawingml/2006/main" noGrp="1"/>
          </p:cNvSpPr>
          <p:nvPr/>
        </p:nvSpPr>
        <p:spPr>
          <a:xfrm xmlns:a="http://schemas.openxmlformats.org/drawingml/2006/main">
            <a:off x="647700" y="3448050"/>
            <a:ext cx="6000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687779"/>
                </a:solidFill>
                <a:latin typeface="Apple SD Gothic Neo"/>
                <a:ea typeface="Apple SD Gothic Neo"/>
                <a:cs typeface="Apple SD Gothic Neo"/>
              </a:defRPr>
            </a:pPr>
            <a:r>
              <a:rPr sz="1875" b="0">
                <a:solidFill>
                  <a:srgbClr val="687779"/>
                </a:solidFill>
                <a:latin typeface="Apple SD Gothic Neo"/>
                <a:ea typeface="Apple SD Gothic Neo"/>
                <a:cs typeface="Apple SD Gothic Neo"/>
              </a:rPr>
              <a:t>흩어진 환자 진행 정보를 연결해</a:t>
            </a:r>
          </a:p>
          <a:p xmlns:a="http://schemas.openxmlformats.org/drawingml/2006/main">
            <a:pPr algn="l">
              <a:defRPr sz="1875" b="0">
                <a:solidFill>
                  <a:srgbClr val="687779"/>
                </a:solidFill>
                <a:latin typeface="Apple SD Gothic Neo"/>
                <a:ea typeface="Apple SD Gothic Neo"/>
                <a:cs typeface="Apple SD Gothic Neo"/>
              </a:defRPr>
            </a:pPr>
            <a:r>
              <a:rPr sz="1875" b="0">
                <a:solidFill>
                  <a:srgbClr val="687779"/>
                </a:solidFill>
                <a:latin typeface="Apple SD Gothic Neo"/>
                <a:ea typeface="Apple SD Gothic Neo"/>
                <a:cs typeface="Apple SD Gothic Neo"/>
              </a:rPr>
              <a:t>대기와 누락을 빠르게 발견한 내부 도구 프로젝트</a:t>
            </a:r>
          </a:p>
        </p:txBody>
      </p:sp>
      <p:cxnSp>
        <p:nvCxnSpPr>
          <p:cNvPr id="13" name=""/>
          <p:cNvCxnSpPr/>
          <p:nvPr/>
        </p:nvCxnSpPr>
        <p:spPr>
          <a:xfrm xmlns:a="http://schemas.openxmlformats.org/drawingml/2006/main">
            <a:off x="647700" y="4857750"/>
            <a:ext cx="2428875" cy="0"/>
          </a:xfrm>
          <a:prstGeom xmlns:a="http://schemas.openxmlformats.org/drawingml/2006/main" prst="straightConnector1">
            <a:avLst/>
          </a:prstGeom>
          <a:ln xmlns:a="http://schemas.openxmlformats.org/drawingml/2006/main" w="47625">
            <a:solidFill>
              <a:srgbClr val="87B978"/>
            </a:solidFill>
            <a:prstDash val="solid"/>
          </a:ln>
        </p:spPr>
      </p:cxnSp>
      <p:sp>
        <p:nvSpPr>
          <p:cNvPr id="6" name="meta">
            <a:extLst xmlns:a="http://schemas.openxmlformats.org/drawingml/2006/main">
              <a:ext uri="{FF2B5EF4-FFF2-40B4-BE49-F238E27FC236}">
                <a16:creationId xmlns:a16="http://schemas.microsoft.com/office/drawing/2014/main" id="{7CE695E3-36C2-438A-980A-1B0EE5FAFA54}"/>
              </a:ext>
            </a:extLst>
          </p:cNvPr>
          <p:cNvSpPr>
            <a:spLocks xmlns:a="http://schemas.openxmlformats.org/drawingml/2006/main" noGrp="1"/>
          </p:cNvSpPr>
          <p:nvPr/>
        </p:nvSpPr>
        <p:spPr>
          <a:xfrm xmlns:a="http://schemas.openxmlformats.org/drawingml/2006/main">
            <a:off x="647700" y="5172075"/>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26383C"/>
                </a:solidFill>
                <a:latin typeface="Apple SD Gothic Neo"/>
                <a:ea typeface="Apple SD Gothic Neo"/>
                <a:cs typeface="Apple SD Gothic Neo"/>
              </a:defRPr>
            </a:pPr>
            <a:r>
              <a:rPr sz="1275" b="1">
                <a:solidFill>
                  <a:srgbClr val="26383C"/>
                </a:solidFill>
                <a:latin typeface="Apple SD Gothic Neo"/>
                <a:ea typeface="Apple SD Gothic Neo"/>
                <a:cs typeface="Apple SD Gothic Neo"/>
              </a:rPr>
              <a:t>Google Sheets · Apps Script · 조건부 서식</a:t>
            </a:r>
          </a:p>
        </p:txBody>
      </p:sp>
      <p:sp>
        <p:nvSpPr>
          <p:cNvPr id="7" name="screen-bg">
            <a:extLst xmlns:a="http://schemas.openxmlformats.org/drawingml/2006/main">
              <a:ext uri="{FF2B5EF4-FFF2-40B4-BE49-F238E27FC236}">
                <a16:creationId xmlns:a16="http://schemas.microsoft.com/office/drawing/2014/main" id="{A68528F6-5E92-4F50-B8C3-AB24229EFF9B}"/>
              </a:ext>
            </a:extLst>
          </p:cNvPr>
          <p:cNvSpPr>
            <a:spLocks xmlns:a="http://schemas.openxmlformats.org/drawingml/2006/main" noGrp="1"/>
          </p:cNvSpPr>
          <p:nvPr/>
        </p:nvSpPr>
        <p:spPr>
          <a:xfrm xmlns:a="http://schemas.openxmlformats.org/drawingml/2006/main">
            <a:off x="7543800" y="685800"/>
            <a:ext cx="4095750" cy="5429250"/>
          </a:xfrm>
          <a:prstGeom xmlns:a="http://schemas.openxmlformats.org/drawingml/2006/main" prst="roundRect">
            <a:avLst>
              <a:gd name="adj" fmla="val 5116"/>
            </a:avLst>
          </a:prstGeom>
          <a:solidFill xmlns:a="http://schemas.openxmlformats.org/drawingml/2006/main">
            <a:srgbClr val="FFFFFF"/>
          </a:solidFill>
          <a:ln xmlns:a="http://schemas.openxmlformats.org/drawingml/2006/main" w="9525">
            <a:solidFill>
              <a:srgbClr val="D5DED9"/>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6f9d6f197934053"/>
          <a:srcRect xmlns:a="http://schemas.openxmlformats.org/drawingml/2006/main" l="33359" t="0" r="33359" b="0"/>
          <a:stretch xmlns:a="http://schemas.openxmlformats.org/drawingml/2006/main">
            <a:fillRect l="0" t="0" r="0" b="0"/>
          </a:stretch>
        </p:blipFill>
        <p:spPr>
          <a:xfrm xmlns:a="http://schemas.openxmlformats.org/drawingml/2006/main">
            <a:off x="7762875" y="904875"/>
            <a:ext cx="3657600" cy="4991100"/>
          </a:xfrm>
          <a:prstGeom xmlns:a="http://schemas.openxmlformats.org/drawingml/2006/main" prst="roundRect">
            <a:avLst>
              <a:gd name="adj" fmla="val 3646"/>
            </a:avLst>
          </a:prstGeom>
        </p:spPr>
      </p:pic>
    </p:spTree>
    <p:extLst>
      <p:ext uri="{BB962C8B-B14F-4D97-AF65-F5344CB8AC3E}">
        <p14:creationId xmlns:p14="http://schemas.microsoft.com/office/powerpoint/2010/main" val="47490472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chrome-2">
            <a:extLst xmlns:a="http://schemas.openxmlformats.org/drawingml/2006/main">
              <a:ext uri="{FF2B5EF4-FFF2-40B4-BE49-F238E27FC236}">
                <a16:creationId xmlns:a16="http://schemas.microsoft.com/office/drawing/2014/main" id="{99646F56-7CE8-4396-B3E2-BE108868FFDA}"/>
              </a:ext>
            </a:extLst>
          </p:cNvPr>
          <p:cNvSpPr>
            <a:spLocks xmlns:a="http://schemas.openxmlformats.org/drawingml/2006/main" noGrp="1"/>
          </p:cNvSpPr>
          <p:nvPr/>
        </p:nvSpPr>
        <p:spPr>
          <a:xfrm xmlns:a="http://schemas.openxmlformats.org/drawingml/2006/main">
            <a:off x="495300" y="2857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687779"/>
                </a:solidFill>
                <a:latin typeface="Apple SD Gothic Neo"/>
                <a:ea typeface="Apple SD Gothic Neo"/>
                <a:cs typeface="Apple SD Gothic Neo"/>
              </a:defRPr>
            </a:pPr>
            <a:r>
              <a:rPr sz="975" b="1">
                <a:solidFill>
                  <a:srgbClr val="687779"/>
                </a:solidFill>
                <a:latin typeface="Apple SD Gothic Neo"/>
                <a:ea typeface="Apple SD Gothic Neo"/>
                <a:cs typeface="Apple SD Gothic Neo"/>
              </a:rPr>
              <a:t>PROBLEM · FRAGMENTED INFORMATION</a:t>
            </a:r>
          </a:p>
        </p:txBody>
      </p:sp>
      <p:sp>
        <p:nvSpPr>
          <p:cNvPr id="2" name="page-2">
            <a:extLst xmlns:a="http://schemas.openxmlformats.org/drawingml/2006/main">
              <a:ext uri="{FF2B5EF4-FFF2-40B4-BE49-F238E27FC236}">
                <a16:creationId xmlns:a16="http://schemas.microsoft.com/office/drawing/2014/main" id="{50B1CA75-FFB8-4B03-AB9F-809A94C1E9F4}"/>
              </a:ext>
            </a:extLst>
          </p:cNvPr>
          <p:cNvSpPr>
            <a:spLocks xmlns:a="http://schemas.openxmlformats.org/drawingml/2006/main" noGrp="1"/>
          </p:cNvSpPr>
          <p:nvPr/>
        </p:nvSpPr>
        <p:spPr>
          <a:xfrm xmlns:a="http://schemas.openxmlformats.org/drawingml/2006/main">
            <a:off x="11334750" y="6419850"/>
            <a:ext cx="3238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687779"/>
                </a:solidFill>
                <a:latin typeface="Apple SD Gothic Neo"/>
                <a:ea typeface="Apple SD Gothic Neo"/>
                <a:cs typeface="Apple SD Gothic Neo"/>
              </a:defRPr>
            </a:pPr>
            <a:r>
              <a:rPr sz="900" b="1">
                <a:solidFill>
                  <a:srgbClr val="687779"/>
                </a:solidFill>
                <a:latin typeface="Apple SD Gothic Neo"/>
                <a:ea typeface="Apple SD Gothic Neo"/>
                <a:cs typeface="Apple SD Gothic Neo"/>
              </a:rPr>
              <a:t>02</a:t>
            </a:r>
          </a:p>
        </p:txBody>
      </p:sp>
      <p:sp>
        <p:nvSpPr>
          <p:cNvPr id="3" name="title">
            <a:extLst xmlns:a="http://schemas.openxmlformats.org/drawingml/2006/main">
              <a:ext uri="{FF2B5EF4-FFF2-40B4-BE49-F238E27FC236}">
                <a16:creationId xmlns:a16="http://schemas.microsoft.com/office/drawing/2014/main" id="{657A6B09-B21F-4B73-8C9E-12A436817C5D}"/>
              </a:ext>
            </a:extLst>
          </p:cNvPr>
          <p:cNvSpPr>
            <a:spLocks xmlns:a="http://schemas.openxmlformats.org/drawingml/2006/main" noGrp="1"/>
          </p:cNvSpPr>
          <p:nvPr/>
        </p:nvSpPr>
        <p:spPr>
          <a:xfrm xmlns:a="http://schemas.openxmlformats.org/drawingml/2006/main">
            <a:off x="495300" y="7048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17363C"/>
                </a:solidFill>
                <a:latin typeface="Apple SD Gothic Neo"/>
                <a:ea typeface="Apple SD Gothic Neo"/>
                <a:cs typeface="Apple SD Gothic Neo"/>
              </a:defRPr>
            </a:pPr>
            <a:r>
              <a:rPr sz="3000" b="1">
                <a:solidFill>
                  <a:srgbClr val="17363C"/>
                </a:solidFill>
                <a:latin typeface="Apple SD Gothic Neo"/>
                <a:ea typeface="Apple SD Gothic Neo"/>
                <a:cs typeface="Apple SD Gothic Neo"/>
              </a:rPr>
              <a:t>정보는 있었지만, 실제 진행 상태를 한눈에 볼 수 없었습니다</a:t>
            </a:r>
          </a:p>
        </p:txBody>
      </p:sp>
      <p:sp>
        <p:nvSpPr>
          <p:cNvPr id="4" name="sub">
            <a:extLst xmlns:a="http://schemas.openxmlformats.org/drawingml/2006/main">
              <a:ext uri="{FF2B5EF4-FFF2-40B4-BE49-F238E27FC236}">
                <a16:creationId xmlns:a16="http://schemas.microsoft.com/office/drawing/2014/main" id="{66D05D8E-2550-46F1-A589-B8A6254AA4E6}"/>
              </a:ext>
            </a:extLst>
          </p:cNvPr>
          <p:cNvSpPr>
            <a:spLocks xmlns:a="http://schemas.openxmlformats.org/drawingml/2006/main" noGrp="1"/>
          </p:cNvSpPr>
          <p:nvPr/>
        </p:nvSpPr>
        <p:spPr>
          <a:xfrm xmlns:a="http://schemas.openxmlformats.org/drawingml/2006/main">
            <a:off x="495300" y="1323975"/>
            <a:ext cx="876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687779"/>
                </a:solidFill>
                <a:latin typeface="Apple SD Gothic Neo"/>
                <a:ea typeface="Apple SD Gothic Neo"/>
                <a:cs typeface="Apple SD Gothic Neo"/>
              </a:defRPr>
            </a:pPr>
            <a:r>
              <a:rPr sz="1575" b="0">
                <a:solidFill>
                  <a:srgbClr val="687779"/>
                </a:solidFill>
                <a:latin typeface="Apple SD Gothic Neo"/>
                <a:ea typeface="Apple SD Gothic Neo"/>
                <a:cs typeface="Apple SD Gothic Neo"/>
              </a:rPr>
              <a:t>CRM과 별도 시트, 팀별 구두 확인 사이에서 환자의 실제 위치와 기록이 어긋났습니다.</a:t>
            </a:r>
          </a:p>
        </p:txBody>
      </p:sp>
      <p:sp>
        <p:nvSpPr>
          <p:cNvPr id="5" name="problem-0">
            <a:extLst xmlns:a="http://schemas.openxmlformats.org/drawingml/2006/main">
              <a:ext uri="{FF2B5EF4-FFF2-40B4-BE49-F238E27FC236}">
                <a16:creationId xmlns:a16="http://schemas.microsoft.com/office/drawing/2014/main" id="{7B013ECC-2817-42AC-8254-520C355D093F}"/>
              </a:ext>
            </a:extLst>
          </p:cNvPr>
          <p:cNvSpPr>
            <a:spLocks xmlns:a="http://schemas.openxmlformats.org/drawingml/2006/main" noGrp="1"/>
          </p:cNvSpPr>
          <p:nvPr/>
        </p:nvSpPr>
        <p:spPr>
          <a:xfrm xmlns:a="http://schemas.openxmlformats.org/drawingml/2006/main">
            <a:off x="495300" y="2095500"/>
            <a:ext cx="3333750" cy="1771650"/>
          </a:xfrm>
          <a:prstGeom xmlns:a="http://schemas.openxmlformats.org/drawingml/2006/main" prst="roundRect">
            <a:avLst>
              <a:gd name="adj" fmla="val 8602"/>
            </a:avLst>
          </a:prstGeom>
          <a:solidFill xmlns:a="http://schemas.openxmlformats.org/drawingml/2006/main">
            <a:srgbClr val="DDECDD"/>
          </a:solidFill>
          <a:ln xmlns:a="http://schemas.openxmlformats.org/drawingml/2006/main" w="0">
            <a:noFill/>
            <a:prstDash val="solid"/>
          </a:ln>
        </p:spPr>
      </p:sp>
      <p:sp>
        <p:nvSpPr>
          <p:cNvPr id="6" name="problem-label-0">
            <a:extLst xmlns:a="http://schemas.openxmlformats.org/drawingml/2006/main">
              <a:ext uri="{FF2B5EF4-FFF2-40B4-BE49-F238E27FC236}">
                <a16:creationId xmlns:a16="http://schemas.microsoft.com/office/drawing/2014/main" id="{FF9608D4-3B30-4485-B0F6-657238C6E0D2}"/>
              </a:ext>
            </a:extLst>
          </p:cNvPr>
          <p:cNvSpPr>
            <a:spLocks xmlns:a="http://schemas.openxmlformats.org/drawingml/2006/main" noGrp="1"/>
          </p:cNvSpPr>
          <p:nvPr/>
        </p:nvSpPr>
        <p:spPr>
          <a:xfrm xmlns:a="http://schemas.openxmlformats.org/drawingml/2006/main">
            <a:off x="723900" y="23241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7363C"/>
                </a:solidFill>
                <a:latin typeface="Apple SD Gothic Neo"/>
                <a:ea typeface="Apple SD Gothic Neo"/>
                <a:cs typeface="Apple SD Gothic Neo"/>
              </a:defRPr>
            </a:pPr>
            <a:r>
              <a:rPr sz="1875" b="1">
                <a:solidFill>
                  <a:srgbClr val="17363C"/>
                </a:solidFill>
                <a:latin typeface="Apple SD Gothic Neo"/>
                <a:ea typeface="Apple SD Gothic Neo"/>
                <a:cs typeface="Apple SD Gothic Neo"/>
              </a:rPr>
              <a:t>분산</a:t>
            </a:r>
          </a:p>
        </p:txBody>
      </p:sp>
      <p:sp>
        <p:nvSpPr>
          <p:cNvPr id="7" name="problem-body-0">
            <a:extLst xmlns:a="http://schemas.openxmlformats.org/drawingml/2006/main">
              <a:ext uri="{FF2B5EF4-FFF2-40B4-BE49-F238E27FC236}">
                <a16:creationId xmlns:a16="http://schemas.microsoft.com/office/drawing/2014/main" id="{3B09B1F8-B4B8-42A7-BD7A-01F0E4881B0C}"/>
              </a:ext>
            </a:extLst>
          </p:cNvPr>
          <p:cNvSpPr>
            <a:spLocks xmlns:a="http://schemas.openxmlformats.org/drawingml/2006/main" noGrp="1"/>
          </p:cNvSpPr>
          <p:nvPr/>
        </p:nvSpPr>
        <p:spPr>
          <a:xfrm xmlns:a="http://schemas.openxmlformats.org/drawingml/2006/main">
            <a:off x="723900" y="2838450"/>
            <a:ext cx="285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26383C"/>
                </a:solidFill>
                <a:latin typeface="Apple SD Gothic Neo"/>
                <a:ea typeface="Apple SD Gothic Neo"/>
                <a:cs typeface="Apple SD Gothic Neo"/>
              </a:defRPr>
            </a:pPr>
            <a:r>
              <a:rPr sz="1575" b="0">
                <a:solidFill>
                  <a:srgbClr val="26383C"/>
                </a:solidFill>
                <a:latin typeface="Apple SD Gothic Neo"/>
                <a:ea typeface="Apple SD Gothic Neo"/>
                <a:cs typeface="Apple SD Gothic Neo"/>
              </a:rPr>
              <a:t>CRM과 팀별 확인 과정에</a:t>
            </a:r>
          </a:p>
          <a:p xmlns:a="http://schemas.openxmlformats.org/drawingml/2006/main">
            <a:pPr algn="l">
              <a:defRPr sz="1575" b="0">
                <a:solidFill>
                  <a:srgbClr val="26383C"/>
                </a:solidFill>
                <a:latin typeface="Apple SD Gothic Neo"/>
                <a:ea typeface="Apple SD Gothic Neo"/>
                <a:cs typeface="Apple SD Gothic Neo"/>
              </a:defRPr>
            </a:pPr>
            <a:r>
              <a:rPr sz="1575" b="0">
                <a:solidFill>
                  <a:srgbClr val="26383C"/>
                </a:solidFill>
                <a:latin typeface="Apple SD Gothic Neo"/>
                <a:ea typeface="Apple SD Gothic Neo"/>
                <a:cs typeface="Apple SD Gothic Neo"/>
              </a:rPr>
              <a:t>환자 상태가 흩어짐</a:t>
            </a:r>
          </a:p>
        </p:txBody>
      </p:sp>
      <p:sp>
        <p:nvSpPr>
          <p:cNvPr id="8" name="problem-1">
            <a:extLst xmlns:a="http://schemas.openxmlformats.org/drawingml/2006/main">
              <a:ext uri="{FF2B5EF4-FFF2-40B4-BE49-F238E27FC236}">
                <a16:creationId xmlns:a16="http://schemas.microsoft.com/office/drawing/2014/main" id="{AB4DE606-46B7-42F0-9AEF-CE98E64CD830}"/>
              </a:ext>
            </a:extLst>
          </p:cNvPr>
          <p:cNvSpPr>
            <a:spLocks xmlns:a="http://schemas.openxmlformats.org/drawingml/2006/main" noGrp="1"/>
          </p:cNvSpPr>
          <p:nvPr/>
        </p:nvSpPr>
        <p:spPr>
          <a:xfrm xmlns:a="http://schemas.openxmlformats.org/drawingml/2006/main">
            <a:off x="4210050" y="2095500"/>
            <a:ext cx="3333750" cy="1771650"/>
          </a:xfrm>
          <a:prstGeom xmlns:a="http://schemas.openxmlformats.org/drawingml/2006/main" prst="roundRect">
            <a:avLst>
              <a:gd name="adj" fmla="val 8602"/>
            </a:avLst>
          </a:prstGeom>
          <a:solidFill xmlns:a="http://schemas.openxmlformats.org/drawingml/2006/main">
            <a:srgbClr val="F6E3A1"/>
          </a:solidFill>
          <a:ln xmlns:a="http://schemas.openxmlformats.org/drawingml/2006/main" w="0">
            <a:noFill/>
            <a:prstDash val="solid"/>
          </a:ln>
        </p:spPr>
      </p:sp>
      <p:sp>
        <p:nvSpPr>
          <p:cNvPr id="9" name="problem-label-1">
            <a:extLst xmlns:a="http://schemas.openxmlformats.org/drawingml/2006/main">
              <a:ext uri="{FF2B5EF4-FFF2-40B4-BE49-F238E27FC236}">
                <a16:creationId xmlns:a16="http://schemas.microsoft.com/office/drawing/2014/main" id="{0EFB4CE8-6481-4365-AF3D-089085FB58BA}"/>
              </a:ext>
            </a:extLst>
          </p:cNvPr>
          <p:cNvSpPr>
            <a:spLocks xmlns:a="http://schemas.openxmlformats.org/drawingml/2006/main" noGrp="1"/>
          </p:cNvSpPr>
          <p:nvPr/>
        </p:nvSpPr>
        <p:spPr>
          <a:xfrm xmlns:a="http://schemas.openxmlformats.org/drawingml/2006/main">
            <a:off x="4438650" y="23241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7363C"/>
                </a:solidFill>
                <a:latin typeface="Apple SD Gothic Neo"/>
                <a:ea typeface="Apple SD Gothic Neo"/>
                <a:cs typeface="Apple SD Gothic Neo"/>
              </a:defRPr>
            </a:pPr>
            <a:r>
              <a:rPr sz="1875" b="1">
                <a:solidFill>
                  <a:srgbClr val="17363C"/>
                </a:solidFill>
                <a:latin typeface="Apple SD Gothic Neo"/>
                <a:ea typeface="Apple SD Gothic Neo"/>
                <a:cs typeface="Apple SD Gothic Neo"/>
              </a:rPr>
              <a:t>지연</a:t>
            </a:r>
          </a:p>
        </p:txBody>
      </p:sp>
      <p:sp>
        <p:nvSpPr>
          <p:cNvPr id="10" name="problem-body-1">
            <a:extLst xmlns:a="http://schemas.openxmlformats.org/drawingml/2006/main">
              <a:ext uri="{FF2B5EF4-FFF2-40B4-BE49-F238E27FC236}">
                <a16:creationId xmlns:a16="http://schemas.microsoft.com/office/drawing/2014/main" id="{F888941F-4896-4602-95FC-C7D213A28DC3}"/>
              </a:ext>
            </a:extLst>
          </p:cNvPr>
          <p:cNvSpPr>
            <a:spLocks xmlns:a="http://schemas.openxmlformats.org/drawingml/2006/main" noGrp="1"/>
          </p:cNvSpPr>
          <p:nvPr/>
        </p:nvSpPr>
        <p:spPr>
          <a:xfrm xmlns:a="http://schemas.openxmlformats.org/drawingml/2006/main">
            <a:off x="4438650" y="2838450"/>
            <a:ext cx="285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26383C"/>
                </a:solidFill>
                <a:latin typeface="Apple SD Gothic Neo"/>
                <a:ea typeface="Apple SD Gothic Neo"/>
                <a:cs typeface="Apple SD Gothic Neo"/>
              </a:defRPr>
            </a:pPr>
            <a:r>
              <a:rPr sz="1575" b="0">
                <a:solidFill>
                  <a:srgbClr val="26383C"/>
                </a:solidFill>
                <a:latin typeface="Apple SD Gothic Neo"/>
                <a:ea typeface="Apple SD Gothic Neo"/>
                <a:cs typeface="Apple SD Gothic Neo"/>
              </a:rPr>
              <a:t>시작 시간이 없어</a:t>
            </a:r>
          </a:p>
          <a:p xmlns:a="http://schemas.openxmlformats.org/drawingml/2006/main">
            <a:pPr algn="l">
              <a:defRPr sz="1575" b="0">
                <a:solidFill>
                  <a:srgbClr val="26383C"/>
                </a:solidFill>
                <a:latin typeface="Apple SD Gothic Neo"/>
                <a:ea typeface="Apple SD Gothic Neo"/>
                <a:cs typeface="Apple SD Gothic Neo"/>
              </a:defRPr>
            </a:pPr>
            <a:r>
              <a:rPr sz="1575" b="0">
                <a:solidFill>
                  <a:srgbClr val="26383C"/>
                </a:solidFill>
                <a:latin typeface="Apple SD Gothic Neo"/>
                <a:ea typeface="Apple SD Gothic Neo"/>
                <a:cs typeface="Apple SD Gothic Neo"/>
              </a:rPr>
              <a:t>대기시간 판단이 어려움</a:t>
            </a:r>
          </a:p>
        </p:txBody>
      </p:sp>
      <p:sp>
        <p:nvSpPr>
          <p:cNvPr id="11" name="problem-2">
            <a:extLst xmlns:a="http://schemas.openxmlformats.org/drawingml/2006/main">
              <a:ext uri="{FF2B5EF4-FFF2-40B4-BE49-F238E27FC236}">
                <a16:creationId xmlns:a16="http://schemas.microsoft.com/office/drawing/2014/main" id="{DF8C37C7-CCFD-4AFD-A33E-9665FF866537}"/>
              </a:ext>
            </a:extLst>
          </p:cNvPr>
          <p:cNvSpPr>
            <a:spLocks xmlns:a="http://schemas.openxmlformats.org/drawingml/2006/main" noGrp="1"/>
          </p:cNvSpPr>
          <p:nvPr/>
        </p:nvSpPr>
        <p:spPr>
          <a:xfrm xmlns:a="http://schemas.openxmlformats.org/drawingml/2006/main">
            <a:off x="7924800" y="2095500"/>
            <a:ext cx="3333750" cy="1771650"/>
          </a:xfrm>
          <a:prstGeom xmlns:a="http://schemas.openxmlformats.org/drawingml/2006/main" prst="roundRect">
            <a:avLst>
              <a:gd name="adj" fmla="val 8602"/>
            </a:avLst>
          </a:prstGeom>
          <a:solidFill xmlns:a="http://schemas.openxmlformats.org/drawingml/2006/main">
            <a:srgbClr val="F3D9D5"/>
          </a:solidFill>
          <a:ln xmlns:a="http://schemas.openxmlformats.org/drawingml/2006/main" w="0">
            <a:noFill/>
            <a:prstDash val="solid"/>
          </a:ln>
        </p:spPr>
      </p:sp>
      <p:sp>
        <p:nvSpPr>
          <p:cNvPr id="12" name="problem-label-2">
            <a:extLst xmlns:a="http://schemas.openxmlformats.org/drawingml/2006/main">
              <a:ext uri="{FF2B5EF4-FFF2-40B4-BE49-F238E27FC236}">
                <a16:creationId xmlns:a16="http://schemas.microsoft.com/office/drawing/2014/main" id="{24C3BA97-2CA0-43FD-9D45-BCE32634B39B}"/>
              </a:ext>
            </a:extLst>
          </p:cNvPr>
          <p:cNvSpPr>
            <a:spLocks xmlns:a="http://schemas.openxmlformats.org/drawingml/2006/main" noGrp="1"/>
          </p:cNvSpPr>
          <p:nvPr/>
        </p:nvSpPr>
        <p:spPr>
          <a:xfrm xmlns:a="http://schemas.openxmlformats.org/drawingml/2006/main">
            <a:off x="8153400" y="23241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7363C"/>
                </a:solidFill>
                <a:latin typeface="Apple SD Gothic Neo"/>
                <a:ea typeface="Apple SD Gothic Neo"/>
                <a:cs typeface="Apple SD Gothic Neo"/>
              </a:defRPr>
            </a:pPr>
            <a:r>
              <a:rPr sz="1875" b="1">
                <a:solidFill>
                  <a:srgbClr val="17363C"/>
                </a:solidFill>
                <a:latin typeface="Apple SD Gothic Neo"/>
                <a:ea typeface="Apple SD Gothic Neo"/>
                <a:cs typeface="Apple SD Gothic Neo"/>
              </a:rPr>
              <a:t>누락</a:t>
            </a:r>
          </a:p>
        </p:txBody>
      </p:sp>
      <p:sp>
        <p:nvSpPr>
          <p:cNvPr id="13" name="problem-body-2">
            <a:extLst xmlns:a="http://schemas.openxmlformats.org/drawingml/2006/main">
              <a:ext uri="{FF2B5EF4-FFF2-40B4-BE49-F238E27FC236}">
                <a16:creationId xmlns:a16="http://schemas.microsoft.com/office/drawing/2014/main" id="{41C0A0C6-DF37-4FEE-AC16-28FF6B5356D3}"/>
              </a:ext>
            </a:extLst>
          </p:cNvPr>
          <p:cNvSpPr>
            <a:spLocks xmlns:a="http://schemas.openxmlformats.org/drawingml/2006/main" noGrp="1"/>
          </p:cNvSpPr>
          <p:nvPr/>
        </p:nvSpPr>
        <p:spPr>
          <a:xfrm xmlns:a="http://schemas.openxmlformats.org/drawingml/2006/main">
            <a:off x="8153400" y="2838450"/>
            <a:ext cx="285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26383C"/>
                </a:solidFill>
                <a:latin typeface="Apple SD Gothic Neo"/>
                <a:ea typeface="Apple SD Gothic Neo"/>
                <a:cs typeface="Apple SD Gothic Neo"/>
              </a:defRPr>
            </a:pPr>
            <a:r>
              <a:rPr sz="1575" b="0">
                <a:solidFill>
                  <a:srgbClr val="26383C"/>
                </a:solidFill>
                <a:latin typeface="Apple SD Gothic Neo"/>
                <a:ea typeface="Apple SD Gothic Neo"/>
                <a:cs typeface="Apple SD Gothic Neo"/>
              </a:rPr>
              <a:t>시술 누락·팩 후 방치 등</a:t>
            </a:r>
          </a:p>
          <a:p xmlns:a="http://schemas.openxmlformats.org/drawingml/2006/main">
            <a:pPr algn="l">
              <a:defRPr sz="1575" b="0">
                <a:solidFill>
                  <a:srgbClr val="26383C"/>
                </a:solidFill>
                <a:latin typeface="Apple SD Gothic Neo"/>
                <a:ea typeface="Apple SD Gothic Neo"/>
                <a:cs typeface="Apple SD Gothic Neo"/>
              </a:defRPr>
            </a:pPr>
            <a:r>
              <a:rPr sz="1575" b="0">
                <a:solidFill>
                  <a:srgbClr val="26383C"/>
                </a:solidFill>
                <a:latin typeface="Apple SD Gothic Neo"/>
                <a:ea typeface="Apple SD Gothic Neo"/>
                <a:cs typeface="Apple SD Gothic Neo"/>
              </a:rPr>
              <a:t>다음 단계 인계가 끊김</a:t>
            </a:r>
          </a:p>
        </p:txBody>
      </p:sp>
      <p:cxnSp>
        <p:nvCxnSpPr>
          <p:cNvPr id="31" name=""/>
          <p:cNvCxnSpPr/>
          <p:nvPr/>
        </p:nvCxnSpPr>
        <p:spPr>
          <a:xfrm xmlns:a="http://schemas.openxmlformats.org/drawingml/2006/main">
            <a:off x="495300" y="4381500"/>
            <a:ext cx="10744200" cy="0"/>
          </a:xfrm>
          <a:prstGeom xmlns:a="http://schemas.openxmlformats.org/drawingml/2006/main" prst="straightConnector1">
            <a:avLst/>
          </a:prstGeom>
          <a:ln xmlns:a="http://schemas.openxmlformats.org/drawingml/2006/main" w="19050">
            <a:solidFill>
              <a:srgbClr val="CCD6D1"/>
            </a:solidFill>
            <a:prstDash val="solid"/>
          </a:ln>
        </p:spPr>
      </p:cxnSp>
      <p:sp>
        <p:nvSpPr>
          <p:cNvPr id="15" name="fact-label">
            <a:extLst xmlns:a="http://schemas.openxmlformats.org/drawingml/2006/main">
              <a:ext uri="{FF2B5EF4-FFF2-40B4-BE49-F238E27FC236}">
                <a16:creationId xmlns:a16="http://schemas.microsoft.com/office/drawing/2014/main" id="{AA0C83E3-643A-42D8-A30E-B640FFB37E3E}"/>
              </a:ext>
            </a:extLst>
          </p:cNvPr>
          <p:cNvSpPr>
            <a:spLocks xmlns:a="http://schemas.openxmlformats.org/drawingml/2006/main" noGrp="1"/>
          </p:cNvSpPr>
          <p:nvPr/>
        </p:nvSpPr>
        <p:spPr>
          <a:xfrm xmlns:a="http://schemas.openxmlformats.org/drawingml/2006/main">
            <a:off x="495300" y="47053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28B83"/>
                </a:solidFill>
                <a:latin typeface="Apple SD Gothic Neo"/>
                <a:ea typeface="Apple SD Gothic Neo"/>
                <a:cs typeface="Apple SD Gothic Neo"/>
              </a:defRPr>
            </a:pPr>
            <a:r>
              <a:rPr sz="975" b="1">
                <a:solidFill>
                  <a:srgbClr val="E28B83"/>
                </a:solidFill>
                <a:latin typeface="Apple SD Gothic Neo"/>
                <a:ea typeface="Apple SD Gothic Neo"/>
                <a:cs typeface="Apple SD Gothic Neo"/>
              </a:rPr>
              <a:t>COMPLEX DAYS</a:t>
            </a:r>
          </a:p>
        </p:txBody>
      </p:sp>
      <p:sp>
        <p:nvSpPr>
          <p:cNvPr id="16" name="fact">
            <a:extLst xmlns:a="http://schemas.openxmlformats.org/drawingml/2006/main">
              <a:ext uri="{FF2B5EF4-FFF2-40B4-BE49-F238E27FC236}">
                <a16:creationId xmlns:a16="http://schemas.microsoft.com/office/drawing/2014/main" id="{5F1DE2D7-F606-4DD8-82BC-6CFB3223D8AE}"/>
              </a:ext>
            </a:extLst>
          </p:cNvPr>
          <p:cNvSpPr>
            <a:spLocks xmlns:a="http://schemas.openxmlformats.org/drawingml/2006/main" noGrp="1"/>
          </p:cNvSpPr>
          <p:nvPr/>
        </p:nvSpPr>
        <p:spPr>
          <a:xfrm xmlns:a="http://schemas.openxmlformats.org/drawingml/2006/main">
            <a:off x="495300" y="5029200"/>
            <a:ext cx="800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00" b="1">
                <a:solidFill>
                  <a:srgbClr val="17363C"/>
                </a:solidFill>
                <a:latin typeface="Apple SD Gothic Neo"/>
                <a:ea typeface="Apple SD Gothic Neo"/>
                <a:cs typeface="Apple SD Gothic Neo"/>
              </a:defRPr>
            </a:pPr>
            <a:r>
              <a:rPr sz="2400" b="1">
                <a:solidFill>
                  <a:srgbClr val="17363C"/>
                </a:solidFill>
                <a:latin typeface="Apple SD Gothic Neo"/>
                <a:ea typeface="Apple SD Gothic Neo"/>
                <a:cs typeface="Apple SD Gothic Neo"/>
              </a:rPr>
              <a:t>전체 대기시간이 길게는 3~4시간까지 이어지는 경우도 있었습니다.</a:t>
            </a:r>
          </a:p>
        </p:txBody>
      </p:sp>
      <p:sp>
        <p:nvSpPr>
          <p:cNvPr id="17" name="need">
            <a:extLst xmlns:a="http://schemas.openxmlformats.org/drawingml/2006/main">
              <a:ext uri="{FF2B5EF4-FFF2-40B4-BE49-F238E27FC236}">
                <a16:creationId xmlns:a16="http://schemas.microsoft.com/office/drawing/2014/main" id="{5B2D68D0-1B2D-465E-ACB5-B1D1D95FC5A0}"/>
              </a:ext>
            </a:extLst>
          </p:cNvPr>
          <p:cNvSpPr>
            <a:spLocks xmlns:a="http://schemas.openxmlformats.org/drawingml/2006/main" noGrp="1"/>
          </p:cNvSpPr>
          <p:nvPr/>
        </p:nvSpPr>
        <p:spPr>
          <a:xfrm xmlns:a="http://schemas.openxmlformats.org/drawingml/2006/main">
            <a:off x="8858250" y="4629150"/>
            <a:ext cx="2381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26383C"/>
                </a:solidFill>
                <a:latin typeface="Apple SD Gothic Neo"/>
                <a:ea typeface="Apple SD Gothic Neo"/>
                <a:cs typeface="Apple SD Gothic Neo"/>
              </a:defRPr>
            </a:pPr>
            <a:r>
              <a:rPr sz="1425" b="1">
                <a:solidFill>
                  <a:srgbClr val="26383C"/>
                </a:solidFill>
                <a:latin typeface="Apple SD Gothic Neo"/>
                <a:ea typeface="Apple SD Gothic Neo"/>
                <a:cs typeface="Apple SD Gothic Neo"/>
              </a:rPr>
              <a:t>필요했던 것</a:t>
            </a:r>
          </a:p>
          <a:p xmlns:a="http://schemas.openxmlformats.org/drawingml/2006/main">
            <a:pPr algn="l">
              <a:defRPr sz="1425" b="1">
                <a:solidFill>
                  <a:srgbClr val="26383C"/>
                </a:solidFill>
                <a:latin typeface="Apple SD Gothic Neo"/>
                <a:ea typeface="Apple SD Gothic Neo"/>
                <a:cs typeface="Apple SD Gothic Neo"/>
              </a:defRPr>
            </a:pPr>
            <a:r>
              <a:rPr sz="1425" b="1">
                <a:solidFill>
                  <a:srgbClr val="26383C"/>
                </a:solidFill>
                <a:latin typeface="Apple SD Gothic Neo"/>
                <a:ea typeface="Apple SD Gothic Neo"/>
                <a:cs typeface="Apple SD Gothic Neo"/>
              </a:rPr>
              <a:t>환자 단계 · 담당자 · 시작 시간 · 예정 시간을</a:t>
            </a:r>
          </a:p>
          <a:p xmlns:a="http://schemas.openxmlformats.org/drawingml/2006/main">
            <a:pPr algn="l">
              <a:defRPr sz="1425" b="1">
                <a:solidFill>
                  <a:srgbClr val="26383C"/>
                </a:solidFill>
                <a:latin typeface="Apple SD Gothic Neo"/>
                <a:ea typeface="Apple SD Gothic Neo"/>
                <a:cs typeface="Apple SD Gothic Neo"/>
              </a:defRPr>
            </a:pPr>
            <a:r>
              <a:rPr sz="1425" b="1">
                <a:solidFill>
                  <a:srgbClr val="26383C"/>
                </a:solidFill>
                <a:latin typeface="Apple SD Gothic Neo"/>
                <a:ea typeface="Apple SD Gothic Neo"/>
                <a:cs typeface="Apple SD Gothic Neo"/>
              </a:rPr>
              <a:t>같은 화면에서 확인하는 공용 진행 화면</a:t>
            </a:r>
          </a:p>
        </p:txBody>
      </p:sp>
    </p:spTree>
    <p:extLst>
      <p:ext uri="{BB962C8B-B14F-4D97-AF65-F5344CB8AC3E}">
        <p14:creationId xmlns:p14="http://schemas.microsoft.com/office/powerpoint/2010/main" val="1460690818"/>
      </p:ext>
    </p:extLst>
  </p:cSld>
</p:sld>
</file>

<file path=ppt/slides/slide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20" name="chrome-3">
            <a:extLst xmlns:a="http://schemas.openxmlformats.org/drawingml/2006/main">
              <a:ext uri="{FF2B5EF4-FFF2-40B4-BE49-F238E27FC236}">
                <a16:creationId xmlns:a16="http://schemas.microsoft.com/office/drawing/2014/main" id="{688E2AD7-1CB3-4464-A8B4-272543793DB5}"/>
              </a:ext>
            </a:extLst>
          </p:cNvPr>
          <p:cNvSpPr>
            <a:spLocks xmlns:a="http://schemas.openxmlformats.org/drawingml/2006/main" noGrp="1"/>
          </p:cNvSpPr>
          <p:nvPr/>
        </p:nvSpPr>
        <p:spPr>
          <a:xfrm xmlns:a="http://schemas.openxmlformats.org/drawingml/2006/main">
            <a:off x="495300" y="2857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687779"/>
                </a:solidFill>
                <a:latin typeface="Apple SD Gothic Neo"/>
                <a:ea typeface="Apple SD Gothic Neo"/>
                <a:cs typeface="Apple SD Gothic Neo"/>
              </a:defRPr>
            </a:pPr>
            <a:r>
              <a:rPr sz="975" b="1">
                <a:solidFill>
                  <a:srgbClr val="687779"/>
                </a:solidFill>
                <a:latin typeface="Apple SD Gothic Neo"/>
                <a:ea typeface="Apple SD Gothic Neo"/>
                <a:cs typeface="Apple SD Gothic Neo"/>
              </a:rPr>
              <a:t>SOLUTION · ONE ROW, ONE PROCEDURE</a:t>
            </a:r>
          </a:p>
        </p:txBody>
      </p:sp>
      <p:sp>
        <p:nvSpPr>
          <p:cNvPr id="2" name="page-3">
            <a:extLst xmlns:a="http://schemas.openxmlformats.org/drawingml/2006/main">
              <a:ext uri="{FF2B5EF4-FFF2-40B4-BE49-F238E27FC236}">
                <a16:creationId xmlns:a16="http://schemas.microsoft.com/office/drawing/2014/main" id="{8D708910-3574-4150-8B9A-7B35BDA53715}"/>
              </a:ext>
            </a:extLst>
          </p:cNvPr>
          <p:cNvSpPr>
            <a:spLocks xmlns:a="http://schemas.openxmlformats.org/drawingml/2006/main" noGrp="1"/>
          </p:cNvSpPr>
          <p:nvPr/>
        </p:nvSpPr>
        <p:spPr>
          <a:xfrm xmlns:a="http://schemas.openxmlformats.org/drawingml/2006/main">
            <a:off x="11334750" y="6419850"/>
            <a:ext cx="3238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687779"/>
                </a:solidFill>
                <a:latin typeface="Apple SD Gothic Neo"/>
                <a:ea typeface="Apple SD Gothic Neo"/>
                <a:cs typeface="Apple SD Gothic Neo"/>
              </a:defRPr>
            </a:pPr>
            <a:r>
              <a:rPr sz="900" b="1">
                <a:solidFill>
                  <a:srgbClr val="687779"/>
                </a:solidFill>
                <a:latin typeface="Apple SD Gothic Neo"/>
                <a:ea typeface="Apple SD Gothic Neo"/>
                <a:cs typeface="Apple SD Gothic Neo"/>
              </a:rPr>
              <a:t>03</a:t>
            </a:r>
          </a:p>
        </p:txBody>
      </p:sp>
      <p:sp>
        <p:nvSpPr>
          <p:cNvPr id="3" name="title">
            <a:extLst xmlns:a="http://schemas.openxmlformats.org/drawingml/2006/main">
              <a:ext uri="{FF2B5EF4-FFF2-40B4-BE49-F238E27FC236}">
                <a16:creationId xmlns:a16="http://schemas.microsoft.com/office/drawing/2014/main" id="{07E8DA28-0318-43A7-BAF0-37281BD00E61}"/>
              </a:ext>
            </a:extLst>
          </p:cNvPr>
          <p:cNvSpPr>
            <a:spLocks xmlns:a="http://schemas.openxmlformats.org/drawingml/2006/main" noGrp="1"/>
          </p:cNvSpPr>
          <p:nvPr/>
        </p:nvSpPr>
        <p:spPr>
          <a:xfrm xmlns:a="http://schemas.openxmlformats.org/drawingml/2006/main">
            <a:off x="495300" y="685800"/>
            <a:ext cx="1057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17363C"/>
                </a:solidFill>
                <a:latin typeface="Apple SD Gothic Neo"/>
                <a:ea typeface="Apple SD Gothic Neo"/>
                <a:cs typeface="Apple SD Gothic Neo"/>
              </a:defRPr>
            </a:pPr>
            <a:r>
              <a:rPr sz="3000" b="1">
                <a:solidFill>
                  <a:srgbClr val="17363C"/>
                </a:solidFill>
                <a:latin typeface="Apple SD Gothic Neo"/>
                <a:ea typeface="Apple SD Gothic Neo"/>
                <a:cs typeface="Apple SD Gothic Neo"/>
              </a:rPr>
              <a:t>한 행에 한 시술, 필요한 정보를 같은 흐름에 배치했습니다</a:t>
            </a:r>
          </a:p>
        </p:txBody>
      </p:sp>
      <p:sp>
        <p:nvSpPr>
          <p:cNvPr id="4" name="sub">
            <a:extLst xmlns:a="http://schemas.openxmlformats.org/drawingml/2006/main">
              <a:ext uri="{FF2B5EF4-FFF2-40B4-BE49-F238E27FC236}">
                <a16:creationId xmlns:a16="http://schemas.microsoft.com/office/drawing/2014/main" id="{C8EB0A9B-5FAD-473C-B60C-B90F89380A8F}"/>
              </a:ext>
            </a:extLst>
          </p:cNvPr>
          <p:cNvSpPr>
            <a:spLocks xmlns:a="http://schemas.openxmlformats.org/drawingml/2006/main" noGrp="1"/>
          </p:cNvSpPr>
          <p:nvPr/>
        </p:nvSpPr>
        <p:spPr>
          <a:xfrm xmlns:a="http://schemas.openxmlformats.org/drawingml/2006/main">
            <a:off x="495300" y="1304925"/>
            <a:ext cx="952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687779"/>
                </a:solidFill>
                <a:latin typeface="Apple SD Gothic Neo"/>
                <a:ea typeface="Apple SD Gothic Neo"/>
                <a:cs typeface="Apple SD Gothic Neo"/>
              </a:defRPr>
            </a:pPr>
            <a:r>
              <a:rPr sz="1575" b="0">
                <a:solidFill>
                  <a:srgbClr val="687779"/>
                </a:solidFill>
                <a:latin typeface="Apple SD Gothic Neo"/>
                <a:ea typeface="Apple SD Gothic Neo"/>
                <a:cs typeface="Apple SD Gothic Neo"/>
              </a:rPr>
              <a:t>상담 정보부터 시술명·수량·담당 의료진까지, 다음 담당자가 바로 판단할 수 있는 순서로 정리했습니다.</a:t>
            </a:r>
          </a:p>
        </p:txBody>
      </p:sp>
      <p:sp>
        <p:nvSpPr>
          <p:cNvPr id="5" name="sheet-frame">
            <a:extLst xmlns:a="http://schemas.openxmlformats.org/drawingml/2006/main">
              <a:ext uri="{FF2B5EF4-FFF2-40B4-BE49-F238E27FC236}">
                <a16:creationId xmlns:a16="http://schemas.microsoft.com/office/drawing/2014/main" id="{78AAE687-8CC7-46C2-9FAD-ECD3C90229C5}"/>
              </a:ext>
            </a:extLst>
          </p:cNvPr>
          <p:cNvSpPr>
            <a:spLocks xmlns:a="http://schemas.openxmlformats.org/drawingml/2006/main" noGrp="1"/>
          </p:cNvSpPr>
          <p:nvPr/>
        </p:nvSpPr>
        <p:spPr>
          <a:xfrm xmlns:a="http://schemas.openxmlformats.org/drawingml/2006/main">
            <a:off x="495300" y="1971675"/>
            <a:ext cx="11201400" cy="2333625"/>
          </a:xfrm>
          <a:prstGeom xmlns:a="http://schemas.openxmlformats.org/drawingml/2006/main" prst="roundRect">
            <a:avLst>
              <a:gd name="adj" fmla="val 6531"/>
            </a:avLst>
          </a:prstGeom>
          <a:solidFill xmlns:a="http://schemas.openxmlformats.org/drawingml/2006/main">
            <a:srgbClr val="FFFFFF"/>
          </a:solidFill>
          <a:ln xmlns:a="http://schemas.openxmlformats.org/drawingml/2006/main" w="9525">
            <a:solidFill>
              <a:srgbClr val="D3DDD7"/>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9f79e36463294464"/>
          <a:stretch xmlns:a="http://schemas.openxmlformats.org/drawingml/2006/main"/>
        </p:blipFill>
        <p:spPr>
          <a:xfrm xmlns:a="http://schemas.openxmlformats.org/drawingml/2006/main">
            <a:off x="666750" y="2789699"/>
            <a:ext cx="10858500" cy="697576"/>
          </a:xfrm>
          <a:prstGeom xmlns:a="http://schemas.openxmlformats.org/drawingml/2006/main" prst="roundRect">
            <a:avLst>
              <a:gd name="adj" fmla="val 5025"/>
            </a:avLst>
          </a:prstGeom>
        </p:spPr>
      </p:pic>
      <p:sp>
        <p:nvSpPr>
          <p:cNvPr id="7" name="num-0">
            <a:extLst xmlns:a="http://schemas.openxmlformats.org/drawingml/2006/main">
              <a:ext uri="{FF2B5EF4-FFF2-40B4-BE49-F238E27FC236}">
                <a16:creationId xmlns:a16="http://schemas.microsoft.com/office/drawing/2014/main" id="{EDBFA852-076A-4B31-9F48-BE7E6725FC53}"/>
              </a:ext>
            </a:extLst>
          </p:cNvPr>
          <p:cNvSpPr>
            <a:spLocks xmlns:a="http://schemas.openxmlformats.org/drawingml/2006/main" noGrp="1"/>
          </p:cNvSpPr>
          <p:nvPr/>
        </p:nvSpPr>
        <p:spPr>
          <a:xfrm xmlns:a="http://schemas.openxmlformats.org/drawingml/2006/main">
            <a:off x="495300" y="471487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7B978"/>
                </a:solidFill>
                <a:latin typeface="Apple SD Gothic Neo"/>
                <a:ea typeface="Apple SD Gothic Neo"/>
                <a:cs typeface="Apple SD Gothic Neo"/>
              </a:defRPr>
            </a:pPr>
            <a:r>
              <a:rPr sz="1050" b="1">
                <a:solidFill>
                  <a:srgbClr val="87B978"/>
                </a:solidFill>
                <a:latin typeface="Apple SD Gothic Neo"/>
                <a:ea typeface="Apple SD Gothic Neo"/>
                <a:cs typeface="Apple SD Gothic Neo"/>
              </a:rPr>
              <a:t>01</a:t>
            </a:r>
          </a:p>
        </p:txBody>
      </p:sp>
      <p:sp>
        <p:nvSpPr>
          <p:cNvPr id="8" name="name-0">
            <a:extLst xmlns:a="http://schemas.openxmlformats.org/drawingml/2006/main">
              <a:ext uri="{FF2B5EF4-FFF2-40B4-BE49-F238E27FC236}">
                <a16:creationId xmlns:a16="http://schemas.microsoft.com/office/drawing/2014/main" id="{E25AF5C4-FA78-4E45-BE59-2E963072B6C1}"/>
              </a:ext>
            </a:extLst>
          </p:cNvPr>
          <p:cNvSpPr>
            <a:spLocks xmlns:a="http://schemas.openxmlformats.org/drawingml/2006/main" noGrp="1"/>
          </p:cNvSpPr>
          <p:nvPr/>
        </p:nvSpPr>
        <p:spPr>
          <a:xfrm xmlns:a="http://schemas.openxmlformats.org/drawingml/2006/main">
            <a:off x="495300" y="50482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7363C"/>
                </a:solidFill>
                <a:latin typeface="Apple SD Gothic Neo"/>
                <a:ea typeface="Apple SD Gothic Neo"/>
                <a:cs typeface="Apple SD Gothic Neo"/>
              </a:defRPr>
            </a:pPr>
            <a:r>
              <a:rPr sz="1800" b="1">
                <a:solidFill>
                  <a:srgbClr val="17363C"/>
                </a:solidFill>
                <a:latin typeface="Apple SD Gothic Neo"/>
                <a:ea typeface="Apple SD Gothic Neo"/>
                <a:cs typeface="Apple SD Gothic Neo"/>
              </a:rPr>
              <a:t>진행 상태</a:t>
            </a:r>
          </a:p>
        </p:txBody>
      </p:sp>
      <p:sp>
        <p:nvSpPr>
          <p:cNvPr id="9" name="desc-0">
            <a:extLst xmlns:a="http://schemas.openxmlformats.org/drawingml/2006/main">
              <a:ext uri="{FF2B5EF4-FFF2-40B4-BE49-F238E27FC236}">
                <a16:creationId xmlns:a16="http://schemas.microsoft.com/office/drawing/2014/main" id="{93B01D08-C746-43F3-8340-FDA3966BD8C4}"/>
              </a:ext>
            </a:extLst>
          </p:cNvPr>
          <p:cNvSpPr>
            <a:spLocks xmlns:a="http://schemas.openxmlformats.org/drawingml/2006/main" noGrp="1"/>
          </p:cNvSpPr>
          <p:nvPr/>
        </p:nvSpPr>
        <p:spPr>
          <a:xfrm xmlns:a="http://schemas.openxmlformats.org/drawingml/2006/main">
            <a:off x="495300" y="5438775"/>
            <a:ext cx="238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87779"/>
                </a:solidFill>
                <a:latin typeface="Apple SD Gothic Neo"/>
                <a:ea typeface="Apple SD Gothic Neo"/>
                <a:cs typeface="Apple SD Gothic Neo"/>
              </a:defRPr>
            </a:pPr>
            <a:r>
              <a:rPr sz="1350" b="0">
                <a:solidFill>
                  <a:srgbClr val="687779"/>
                </a:solidFill>
                <a:latin typeface="Apple SD Gothic Neo"/>
                <a:ea typeface="Apple SD Gothic Neo"/>
                <a:cs typeface="Apple SD Gothic Neo"/>
              </a:rPr>
              <a:t>환자가 현재 어느 단계인지</a:t>
            </a:r>
          </a:p>
        </p:txBody>
      </p:sp>
      <p:sp>
        <p:nvSpPr>
          <p:cNvPr id="10" name="num-1">
            <a:extLst xmlns:a="http://schemas.openxmlformats.org/drawingml/2006/main">
              <a:ext uri="{FF2B5EF4-FFF2-40B4-BE49-F238E27FC236}">
                <a16:creationId xmlns:a16="http://schemas.microsoft.com/office/drawing/2014/main" id="{6D18EAE8-73E0-44DA-8CCE-D4C378FD0034}"/>
              </a:ext>
            </a:extLst>
          </p:cNvPr>
          <p:cNvSpPr>
            <a:spLocks xmlns:a="http://schemas.openxmlformats.org/drawingml/2006/main" noGrp="1"/>
          </p:cNvSpPr>
          <p:nvPr/>
        </p:nvSpPr>
        <p:spPr>
          <a:xfrm xmlns:a="http://schemas.openxmlformats.org/drawingml/2006/main">
            <a:off x="3276600" y="471487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7B978"/>
                </a:solidFill>
                <a:latin typeface="Apple SD Gothic Neo"/>
                <a:ea typeface="Apple SD Gothic Neo"/>
                <a:cs typeface="Apple SD Gothic Neo"/>
              </a:defRPr>
            </a:pPr>
            <a:r>
              <a:rPr sz="1050" b="1">
                <a:solidFill>
                  <a:srgbClr val="87B978"/>
                </a:solidFill>
                <a:latin typeface="Apple SD Gothic Neo"/>
                <a:ea typeface="Apple SD Gothic Neo"/>
                <a:cs typeface="Apple SD Gothic Neo"/>
              </a:rPr>
              <a:t>02</a:t>
            </a:r>
          </a:p>
        </p:txBody>
      </p:sp>
      <p:sp>
        <p:nvSpPr>
          <p:cNvPr id="11" name="name-1">
            <a:extLst xmlns:a="http://schemas.openxmlformats.org/drawingml/2006/main">
              <a:ext uri="{FF2B5EF4-FFF2-40B4-BE49-F238E27FC236}">
                <a16:creationId xmlns:a16="http://schemas.microsoft.com/office/drawing/2014/main" id="{57A4045E-9EE9-4BF2-B1A6-4511EF8A235C}"/>
              </a:ext>
            </a:extLst>
          </p:cNvPr>
          <p:cNvSpPr>
            <a:spLocks xmlns:a="http://schemas.openxmlformats.org/drawingml/2006/main" noGrp="1"/>
          </p:cNvSpPr>
          <p:nvPr/>
        </p:nvSpPr>
        <p:spPr>
          <a:xfrm xmlns:a="http://schemas.openxmlformats.org/drawingml/2006/main">
            <a:off x="3276600" y="50482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7363C"/>
                </a:solidFill>
                <a:latin typeface="Apple SD Gothic Neo"/>
                <a:ea typeface="Apple SD Gothic Neo"/>
                <a:cs typeface="Apple SD Gothic Neo"/>
              </a:defRPr>
            </a:pPr>
            <a:r>
              <a:rPr sz="1800" b="1">
                <a:solidFill>
                  <a:srgbClr val="17363C"/>
                </a:solidFill>
                <a:latin typeface="Apple SD Gothic Neo"/>
                <a:ea typeface="Apple SD Gothic Neo"/>
                <a:cs typeface="Apple SD Gothic Neo"/>
              </a:rPr>
              <a:t>담당자</a:t>
            </a:r>
          </a:p>
        </p:txBody>
      </p:sp>
      <p:sp>
        <p:nvSpPr>
          <p:cNvPr id="12" name="desc-1">
            <a:extLst xmlns:a="http://schemas.openxmlformats.org/drawingml/2006/main">
              <a:ext uri="{FF2B5EF4-FFF2-40B4-BE49-F238E27FC236}">
                <a16:creationId xmlns:a16="http://schemas.microsoft.com/office/drawing/2014/main" id="{56F8219C-BB63-47F7-89BA-37F631CDBD7D}"/>
              </a:ext>
            </a:extLst>
          </p:cNvPr>
          <p:cNvSpPr>
            <a:spLocks xmlns:a="http://schemas.openxmlformats.org/drawingml/2006/main" noGrp="1"/>
          </p:cNvSpPr>
          <p:nvPr/>
        </p:nvSpPr>
        <p:spPr>
          <a:xfrm xmlns:a="http://schemas.openxmlformats.org/drawingml/2006/main">
            <a:off x="3276600" y="5438775"/>
            <a:ext cx="238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87779"/>
                </a:solidFill>
                <a:latin typeface="Apple SD Gothic Neo"/>
                <a:ea typeface="Apple SD Gothic Neo"/>
                <a:cs typeface="Apple SD Gothic Neo"/>
              </a:defRPr>
            </a:pPr>
            <a:r>
              <a:rPr sz="1350" b="0">
                <a:solidFill>
                  <a:srgbClr val="687779"/>
                </a:solidFill>
                <a:latin typeface="Apple SD Gothic Neo"/>
                <a:ea typeface="Apple SD Gothic Neo"/>
                <a:cs typeface="Apple SD Gothic Neo"/>
              </a:rPr>
              <a:t>누가 다음 행동을 맡는지</a:t>
            </a:r>
          </a:p>
        </p:txBody>
      </p:sp>
      <p:sp>
        <p:nvSpPr>
          <p:cNvPr id="13" name="num-2">
            <a:extLst xmlns:a="http://schemas.openxmlformats.org/drawingml/2006/main">
              <a:ext uri="{FF2B5EF4-FFF2-40B4-BE49-F238E27FC236}">
                <a16:creationId xmlns:a16="http://schemas.microsoft.com/office/drawing/2014/main" id="{0CA88C21-89D2-4C78-858A-A4F5D143AC83}"/>
              </a:ext>
            </a:extLst>
          </p:cNvPr>
          <p:cNvSpPr>
            <a:spLocks xmlns:a="http://schemas.openxmlformats.org/drawingml/2006/main" noGrp="1"/>
          </p:cNvSpPr>
          <p:nvPr/>
        </p:nvSpPr>
        <p:spPr>
          <a:xfrm xmlns:a="http://schemas.openxmlformats.org/drawingml/2006/main">
            <a:off x="6057900" y="471487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7B978"/>
                </a:solidFill>
                <a:latin typeface="Apple SD Gothic Neo"/>
                <a:ea typeface="Apple SD Gothic Neo"/>
                <a:cs typeface="Apple SD Gothic Neo"/>
              </a:defRPr>
            </a:pPr>
            <a:r>
              <a:rPr sz="1050" b="1">
                <a:solidFill>
                  <a:srgbClr val="87B978"/>
                </a:solidFill>
                <a:latin typeface="Apple SD Gothic Neo"/>
                <a:ea typeface="Apple SD Gothic Neo"/>
                <a:cs typeface="Apple SD Gothic Neo"/>
              </a:rPr>
              <a:t>03</a:t>
            </a:r>
          </a:p>
        </p:txBody>
      </p:sp>
      <p:sp>
        <p:nvSpPr>
          <p:cNvPr id="14" name="name-2">
            <a:extLst xmlns:a="http://schemas.openxmlformats.org/drawingml/2006/main">
              <a:ext uri="{FF2B5EF4-FFF2-40B4-BE49-F238E27FC236}">
                <a16:creationId xmlns:a16="http://schemas.microsoft.com/office/drawing/2014/main" id="{EF228C33-617F-4D3F-B26A-471B5174354C}"/>
              </a:ext>
            </a:extLst>
          </p:cNvPr>
          <p:cNvSpPr>
            <a:spLocks xmlns:a="http://schemas.openxmlformats.org/drawingml/2006/main" noGrp="1"/>
          </p:cNvSpPr>
          <p:nvPr/>
        </p:nvSpPr>
        <p:spPr>
          <a:xfrm xmlns:a="http://schemas.openxmlformats.org/drawingml/2006/main">
            <a:off x="6057900" y="50482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7363C"/>
                </a:solidFill>
                <a:latin typeface="Apple SD Gothic Neo"/>
                <a:ea typeface="Apple SD Gothic Neo"/>
                <a:cs typeface="Apple SD Gothic Neo"/>
              </a:defRPr>
            </a:pPr>
            <a:r>
              <a:rPr sz="1800" b="1">
                <a:solidFill>
                  <a:srgbClr val="17363C"/>
                </a:solidFill>
                <a:latin typeface="Apple SD Gothic Neo"/>
                <a:ea typeface="Apple SD Gothic Neo"/>
                <a:cs typeface="Apple SD Gothic Neo"/>
              </a:rPr>
              <a:t>시술 정보</a:t>
            </a:r>
          </a:p>
        </p:txBody>
      </p:sp>
      <p:sp>
        <p:nvSpPr>
          <p:cNvPr id="15" name="desc-2">
            <a:extLst xmlns:a="http://schemas.openxmlformats.org/drawingml/2006/main">
              <a:ext uri="{FF2B5EF4-FFF2-40B4-BE49-F238E27FC236}">
                <a16:creationId xmlns:a16="http://schemas.microsoft.com/office/drawing/2014/main" id="{5B15A153-61C5-4AF8-9487-D65E8A7156B0}"/>
              </a:ext>
            </a:extLst>
          </p:cNvPr>
          <p:cNvSpPr>
            <a:spLocks xmlns:a="http://schemas.openxmlformats.org/drawingml/2006/main" noGrp="1"/>
          </p:cNvSpPr>
          <p:nvPr/>
        </p:nvSpPr>
        <p:spPr>
          <a:xfrm xmlns:a="http://schemas.openxmlformats.org/drawingml/2006/main">
            <a:off x="6057900" y="5438775"/>
            <a:ext cx="238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87779"/>
                </a:solidFill>
                <a:latin typeface="Apple SD Gothic Neo"/>
                <a:ea typeface="Apple SD Gothic Neo"/>
                <a:cs typeface="Apple SD Gothic Neo"/>
              </a:defRPr>
            </a:pPr>
            <a:r>
              <a:rPr sz="1350" b="0">
                <a:solidFill>
                  <a:srgbClr val="687779"/>
                </a:solidFill>
                <a:latin typeface="Apple SD Gothic Neo"/>
                <a:ea typeface="Apple SD Gothic Neo"/>
                <a:cs typeface="Apple SD Gothic Neo"/>
              </a:rPr>
              <a:t>한 고객의 여러 시술을 구분</a:t>
            </a:r>
          </a:p>
        </p:txBody>
      </p:sp>
      <p:sp>
        <p:nvSpPr>
          <p:cNvPr id="16" name="num-3">
            <a:extLst xmlns:a="http://schemas.openxmlformats.org/drawingml/2006/main">
              <a:ext uri="{FF2B5EF4-FFF2-40B4-BE49-F238E27FC236}">
                <a16:creationId xmlns:a16="http://schemas.microsoft.com/office/drawing/2014/main" id="{4624CAA4-B43C-493D-AA2B-DD062354E6D1}"/>
              </a:ext>
            </a:extLst>
          </p:cNvPr>
          <p:cNvSpPr>
            <a:spLocks xmlns:a="http://schemas.openxmlformats.org/drawingml/2006/main" noGrp="1"/>
          </p:cNvSpPr>
          <p:nvPr/>
        </p:nvSpPr>
        <p:spPr>
          <a:xfrm xmlns:a="http://schemas.openxmlformats.org/drawingml/2006/main">
            <a:off x="8839200" y="471487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7B978"/>
                </a:solidFill>
                <a:latin typeface="Apple SD Gothic Neo"/>
                <a:ea typeface="Apple SD Gothic Neo"/>
                <a:cs typeface="Apple SD Gothic Neo"/>
              </a:defRPr>
            </a:pPr>
            <a:r>
              <a:rPr sz="1050" b="1">
                <a:solidFill>
                  <a:srgbClr val="87B978"/>
                </a:solidFill>
                <a:latin typeface="Apple SD Gothic Neo"/>
                <a:ea typeface="Apple SD Gothic Neo"/>
                <a:cs typeface="Apple SD Gothic Neo"/>
              </a:rPr>
              <a:t>04</a:t>
            </a:r>
          </a:p>
        </p:txBody>
      </p:sp>
      <p:sp>
        <p:nvSpPr>
          <p:cNvPr id="17" name="name-3">
            <a:extLst xmlns:a="http://schemas.openxmlformats.org/drawingml/2006/main">
              <a:ext uri="{FF2B5EF4-FFF2-40B4-BE49-F238E27FC236}">
                <a16:creationId xmlns:a16="http://schemas.microsoft.com/office/drawing/2014/main" id="{2D653089-4E5E-4E96-8FDF-9EA6F5E0C575}"/>
              </a:ext>
            </a:extLst>
          </p:cNvPr>
          <p:cNvSpPr>
            <a:spLocks xmlns:a="http://schemas.openxmlformats.org/drawingml/2006/main" noGrp="1"/>
          </p:cNvSpPr>
          <p:nvPr/>
        </p:nvSpPr>
        <p:spPr>
          <a:xfrm xmlns:a="http://schemas.openxmlformats.org/drawingml/2006/main">
            <a:off x="8839200" y="50482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7363C"/>
                </a:solidFill>
                <a:latin typeface="Apple SD Gothic Neo"/>
                <a:ea typeface="Apple SD Gothic Neo"/>
                <a:cs typeface="Apple SD Gothic Neo"/>
              </a:defRPr>
            </a:pPr>
            <a:r>
              <a:rPr sz="1800" b="1">
                <a:solidFill>
                  <a:srgbClr val="17363C"/>
                </a:solidFill>
                <a:latin typeface="Apple SD Gothic Neo"/>
                <a:ea typeface="Apple SD Gothic Neo"/>
                <a:cs typeface="Apple SD Gothic Neo"/>
              </a:rPr>
              <a:t>인계 정보</a:t>
            </a:r>
          </a:p>
        </p:txBody>
      </p:sp>
      <p:sp>
        <p:nvSpPr>
          <p:cNvPr id="18" name="desc-3">
            <a:extLst xmlns:a="http://schemas.openxmlformats.org/drawingml/2006/main">
              <a:ext uri="{FF2B5EF4-FFF2-40B4-BE49-F238E27FC236}">
                <a16:creationId xmlns:a16="http://schemas.microsoft.com/office/drawing/2014/main" id="{FA19D279-B587-4163-9024-968EF3C7A96F}"/>
              </a:ext>
            </a:extLst>
          </p:cNvPr>
          <p:cNvSpPr>
            <a:spLocks xmlns:a="http://schemas.openxmlformats.org/drawingml/2006/main" noGrp="1"/>
          </p:cNvSpPr>
          <p:nvPr/>
        </p:nvSpPr>
        <p:spPr>
          <a:xfrm xmlns:a="http://schemas.openxmlformats.org/drawingml/2006/main">
            <a:off x="8839200" y="5438775"/>
            <a:ext cx="238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87779"/>
                </a:solidFill>
                <a:latin typeface="Apple SD Gothic Neo"/>
                <a:ea typeface="Apple SD Gothic Neo"/>
                <a:cs typeface="Apple SD Gothic Neo"/>
              </a:defRPr>
            </a:pPr>
            <a:r>
              <a:rPr sz="1350" b="0">
                <a:solidFill>
                  <a:srgbClr val="687779"/>
                </a:solidFill>
                <a:latin typeface="Apple SD Gothic Neo"/>
                <a:ea typeface="Apple SD Gothic Neo"/>
                <a:cs typeface="Apple SD Gothic Neo"/>
              </a:rPr>
              <a:t>호출·마무리·비고를 연결</a:t>
            </a:r>
          </a:p>
        </p:txBody>
      </p:sp>
      <p:sp>
        <p:nvSpPr>
          <p:cNvPr id="19" name="takeaway">
            <a:extLst xmlns:a="http://schemas.openxmlformats.org/drawingml/2006/main">
              <a:ext uri="{FF2B5EF4-FFF2-40B4-BE49-F238E27FC236}">
                <a16:creationId xmlns:a16="http://schemas.microsoft.com/office/drawing/2014/main" id="{56A54A7F-C57B-4438-9EDE-87F01CECA77A}"/>
              </a:ext>
            </a:extLst>
          </p:cNvPr>
          <p:cNvSpPr>
            <a:spLocks xmlns:a="http://schemas.openxmlformats.org/drawingml/2006/main" noGrp="1"/>
          </p:cNvSpPr>
          <p:nvPr/>
        </p:nvSpPr>
        <p:spPr>
          <a:xfrm xmlns:a="http://schemas.openxmlformats.org/drawingml/2006/main">
            <a:off x="495300" y="6162675"/>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6383C"/>
                </a:solidFill>
                <a:latin typeface="Apple SD Gothic Neo"/>
                <a:ea typeface="Apple SD Gothic Neo"/>
                <a:cs typeface="Apple SD Gothic Neo"/>
              </a:defRPr>
            </a:pPr>
            <a:r>
              <a:rPr sz="1500" b="1">
                <a:solidFill>
                  <a:srgbClr val="26383C"/>
                </a:solidFill>
                <a:latin typeface="Apple SD Gothic Neo"/>
                <a:ea typeface="Apple SD Gothic Neo"/>
                <a:cs typeface="Apple SD Gothic Neo"/>
              </a:rPr>
              <a:t>정보를 많이 넣는 대신, 각 팀이 ‘다음 행동’을 판단하는 데 필요한 순서를 우선했습니다.</a:t>
            </a:r>
          </a:p>
        </p:txBody>
      </p:sp>
    </p:spTree>
    <p:extLst>
      <p:ext uri="{BB962C8B-B14F-4D97-AF65-F5344CB8AC3E}">
        <p14:creationId xmlns:p14="http://schemas.microsoft.com/office/powerpoint/2010/main" val="41349725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chrome-4">
            <a:extLst xmlns:a="http://schemas.openxmlformats.org/drawingml/2006/main">
              <a:ext uri="{FF2B5EF4-FFF2-40B4-BE49-F238E27FC236}">
                <a16:creationId xmlns:a16="http://schemas.microsoft.com/office/drawing/2014/main" id="{57F8FDF2-1B2C-4A5D-848D-8F87DD0B1622}"/>
              </a:ext>
            </a:extLst>
          </p:cNvPr>
          <p:cNvSpPr>
            <a:spLocks xmlns:a="http://schemas.openxmlformats.org/drawingml/2006/main" noGrp="1"/>
          </p:cNvSpPr>
          <p:nvPr/>
        </p:nvSpPr>
        <p:spPr>
          <a:xfrm xmlns:a="http://schemas.openxmlformats.org/drawingml/2006/main">
            <a:off x="495300" y="2857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687779"/>
                </a:solidFill>
                <a:latin typeface="Apple SD Gothic Neo"/>
                <a:ea typeface="Apple SD Gothic Neo"/>
                <a:cs typeface="Apple SD Gothic Neo"/>
              </a:defRPr>
            </a:pPr>
            <a:r>
              <a:rPr sz="975" b="1">
                <a:solidFill>
                  <a:srgbClr val="687779"/>
                </a:solidFill>
                <a:latin typeface="Apple SD Gothic Neo"/>
                <a:ea typeface="Apple SD Gothic Neo"/>
                <a:cs typeface="Apple SD Gothic Neo"/>
              </a:rPr>
              <a:t>AUTOMATION · TIME &amp; EXCEPTION CONTROL</a:t>
            </a:r>
          </a:p>
        </p:txBody>
      </p:sp>
      <p:sp>
        <p:nvSpPr>
          <p:cNvPr id="2" name="page-4">
            <a:extLst xmlns:a="http://schemas.openxmlformats.org/drawingml/2006/main">
              <a:ext uri="{FF2B5EF4-FFF2-40B4-BE49-F238E27FC236}">
                <a16:creationId xmlns:a16="http://schemas.microsoft.com/office/drawing/2014/main" id="{DBDD77C7-938C-4D6A-BAF6-4F407A2CCD2C}"/>
              </a:ext>
            </a:extLst>
          </p:cNvPr>
          <p:cNvSpPr>
            <a:spLocks xmlns:a="http://schemas.openxmlformats.org/drawingml/2006/main" noGrp="1"/>
          </p:cNvSpPr>
          <p:nvPr/>
        </p:nvSpPr>
        <p:spPr>
          <a:xfrm xmlns:a="http://schemas.openxmlformats.org/drawingml/2006/main">
            <a:off x="11334750" y="6419850"/>
            <a:ext cx="3238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687779"/>
                </a:solidFill>
                <a:latin typeface="Apple SD Gothic Neo"/>
                <a:ea typeface="Apple SD Gothic Neo"/>
                <a:cs typeface="Apple SD Gothic Neo"/>
              </a:defRPr>
            </a:pPr>
            <a:r>
              <a:rPr sz="900" b="1">
                <a:solidFill>
                  <a:srgbClr val="687779"/>
                </a:solidFill>
                <a:latin typeface="Apple SD Gothic Neo"/>
                <a:ea typeface="Apple SD Gothic Neo"/>
                <a:cs typeface="Apple SD Gothic Neo"/>
              </a:rPr>
              <a:t>04</a:t>
            </a:r>
          </a:p>
        </p:txBody>
      </p:sp>
      <p:sp>
        <p:nvSpPr>
          <p:cNvPr id="3" name="title">
            <a:extLst xmlns:a="http://schemas.openxmlformats.org/drawingml/2006/main">
              <a:ext uri="{FF2B5EF4-FFF2-40B4-BE49-F238E27FC236}">
                <a16:creationId xmlns:a16="http://schemas.microsoft.com/office/drawing/2014/main" id="{AE792EB2-D821-41BD-A386-20A1FC84E110}"/>
              </a:ext>
            </a:extLst>
          </p:cNvPr>
          <p:cNvSpPr>
            <a:spLocks xmlns:a="http://schemas.openxmlformats.org/drawingml/2006/main" noGrp="1"/>
          </p:cNvSpPr>
          <p:nvPr/>
        </p:nvSpPr>
        <p:spPr>
          <a:xfrm xmlns:a="http://schemas.openxmlformats.org/drawingml/2006/main">
            <a:off x="495300" y="685800"/>
            <a:ext cx="1028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17363C"/>
                </a:solidFill>
                <a:latin typeface="Apple SD Gothic Neo"/>
                <a:ea typeface="Apple SD Gothic Neo"/>
                <a:cs typeface="Apple SD Gothic Neo"/>
              </a:defRPr>
            </a:pPr>
            <a:r>
              <a:rPr sz="3000" b="1">
                <a:solidFill>
                  <a:srgbClr val="17363C"/>
                </a:solidFill>
                <a:latin typeface="Apple SD Gothic Neo"/>
                <a:ea typeface="Apple SD Gothic Neo"/>
                <a:cs typeface="Apple SD Gothic Neo"/>
              </a:rPr>
              <a:t>기억에 의존하던 시간을 자동 기록과 경고로 바꿨습니다</a:t>
            </a:r>
          </a:p>
        </p:txBody>
      </p:sp>
      <p:sp>
        <p:nvSpPr>
          <p:cNvPr id="4" name="sub">
            <a:extLst xmlns:a="http://schemas.openxmlformats.org/drawingml/2006/main">
              <a:ext uri="{FF2B5EF4-FFF2-40B4-BE49-F238E27FC236}">
                <a16:creationId xmlns:a16="http://schemas.microsoft.com/office/drawing/2014/main" id="{2D92F41D-56C0-4CB5-8BD4-9AA73D6F9549}"/>
              </a:ext>
            </a:extLst>
          </p:cNvPr>
          <p:cNvSpPr>
            <a:spLocks xmlns:a="http://schemas.openxmlformats.org/drawingml/2006/main" noGrp="1"/>
          </p:cNvSpPr>
          <p:nvPr/>
        </p:nvSpPr>
        <p:spPr>
          <a:xfrm xmlns:a="http://schemas.openxmlformats.org/drawingml/2006/main">
            <a:off x="495300" y="1304925"/>
            <a:ext cx="1028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687779"/>
                </a:solidFill>
                <a:latin typeface="Apple SD Gothic Neo"/>
                <a:ea typeface="Apple SD Gothic Neo"/>
                <a:cs typeface="Apple SD Gothic Neo"/>
              </a:defRPr>
            </a:pPr>
            <a:r>
              <a:rPr sz="1575" b="0">
                <a:solidFill>
                  <a:srgbClr val="687779"/>
                </a:solidFill>
                <a:latin typeface="Apple SD Gothic Neo"/>
                <a:ea typeface="Apple SD Gothic Neo"/>
                <a:cs typeface="Apple SD Gothic Neo"/>
              </a:rPr>
              <a:t>단계가 바뀌면 시간을 남기고, 예정 시간을 계산하며, 지연과 필수값 누락을 조건부 서식으로 표시합니다.</a:t>
            </a:r>
          </a:p>
        </p:txBody>
      </p:sp>
      <p:sp>
        <p:nvSpPr>
          <p:cNvPr id="5" name="sheet-frame">
            <a:extLst xmlns:a="http://schemas.openxmlformats.org/drawingml/2006/main">
              <a:ext uri="{FF2B5EF4-FFF2-40B4-BE49-F238E27FC236}">
                <a16:creationId xmlns:a16="http://schemas.microsoft.com/office/drawing/2014/main" id="{8DE460E3-292C-46CD-A511-99177299D665}"/>
              </a:ext>
            </a:extLst>
          </p:cNvPr>
          <p:cNvSpPr>
            <a:spLocks xmlns:a="http://schemas.openxmlformats.org/drawingml/2006/main" noGrp="1"/>
          </p:cNvSpPr>
          <p:nvPr/>
        </p:nvSpPr>
        <p:spPr>
          <a:xfrm xmlns:a="http://schemas.openxmlformats.org/drawingml/2006/main">
            <a:off x="495300" y="1971675"/>
            <a:ext cx="11201400" cy="2305050"/>
          </a:xfrm>
          <a:prstGeom xmlns:a="http://schemas.openxmlformats.org/drawingml/2006/main" prst="roundRect">
            <a:avLst>
              <a:gd name="adj" fmla="val 6612"/>
            </a:avLst>
          </a:prstGeom>
          <a:solidFill xmlns:a="http://schemas.openxmlformats.org/drawingml/2006/main">
            <a:srgbClr val="FFFFFF"/>
          </a:solidFill>
          <a:ln xmlns:a="http://schemas.openxmlformats.org/drawingml/2006/main" w="9525">
            <a:solidFill>
              <a:srgbClr val="D3DDD7"/>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2814f979cbb0481a"/>
          <a:stretch xmlns:a="http://schemas.openxmlformats.org/drawingml/2006/main"/>
        </p:blipFill>
        <p:spPr>
          <a:xfrm xmlns:a="http://schemas.openxmlformats.org/drawingml/2006/main">
            <a:off x="666750" y="2534979"/>
            <a:ext cx="10858500" cy="1178442"/>
          </a:xfrm>
          <a:prstGeom xmlns:a="http://schemas.openxmlformats.org/drawingml/2006/main" prst="roundRect">
            <a:avLst>
              <a:gd name="adj" fmla="val 5051"/>
            </a:avLst>
          </a:prstGeom>
        </p:spPr>
      </p:pic>
      <p:sp>
        <p:nvSpPr>
          <p:cNvPr id="7" name="func-0">
            <a:extLst xmlns:a="http://schemas.openxmlformats.org/drawingml/2006/main">
              <a:ext uri="{FF2B5EF4-FFF2-40B4-BE49-F238E27FC236}">
                <a16:creationId xmlns:a16="http://schemas.microsoft.com/office/drawing/2014/main" id="{A4FC72FA-FC17-4156-BBB8-1636515B0481}"/>
              </a:ext>
            </a:extLst>
          </p:cNvPr>
          <p:cNvSpPr>
            <a:spLocks xmlns:a="http://schemas.openxmlformats.org/drawingml/2006/main" noGrp="1"/>
          </p:cNvSpPr>
          <p:nvPr/>
        </p:nvSpPr>
        <p:spPr>
          <a:xfrm xmlns:a="http://schemas.openxmlformats.org/drawingml/2006/main">
            <a:off x="495300" y="4714875"/>
            <a:ext cx="2476500" cy="1123950"/>
          </a:xfrm>
          <a:prstGeom xmlns:a="http://schemas.openxmlformats.org/drawingml/2006/main" prst="roundRect">
            <a:avLst>
              <a:gd name="adj" fmla="val 11864"/>
            </a:avLst>
          </a:prstGeom>
          <a:solidFill xmlns:a="http://schemas.openxmlformats.org/drawingml/2006/main">
            <a:srgbClr val="DDECDD"/>
          </a:solidFill>
          <a:ln xmlns:a="http://schemas.openxmlformats.org/drawingml/2006/main" w="0">
            <a:noFill/>
            <a:prstDash val="solid"/>
          </a:ln>
        </p:spPr>
      </p:sp>
      <p:sp>
        <p:nvSpPr>
          <p:cNvPr id="8" name="func-title-0">
            <a:extLst xmlns:a="http://schemas.openxmlformats.org/drawingml/2006/main">
              <a:ext uri="{FF2B5EF4-FFF2-40B4-BE49-F238E27FC236}">
                <a16:creationId xmlns:a16="http://schemas.microsoft.com/office/drawing/2014/main" id="{6172A489-E80E-4BB6-9E7E-9835053D8280}"/>
              </a:ext>
            </a:extLst>
          </p:cNvPr>
          <p:cNvSpPr>
            <a:spLocks xmlns:a="http://schemas.openxmlformats.org/drawingml/2006/main" noGrp="1"/>
          </p:cNvSpPr>
          <p:nvPr/>
        </p:nvSpPr>
        <p:spPr>
          <a:xfrm xmlns:a="http://schemas.openxmlformats.org/drawingml/2006/main">
            <a:off x="666750" y="49149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7363C"/>
                </a:solidFill>
                <a:latin typeface="Apple SD Gothic Neo"/>
                <a:ea typeface="Apple SD Gothic Neo"/>
                <a:cs typeface="Apple SD Gothic Neo"/>
              </a:defRPr>
            </a:pPr>
            <a:r>
              <a:rPr sz="1650" b="1">
                <a:solidFill>
                  <a:srgbClr val="17363C"/>
                </a:solidFill>
                <a:latin typeface="Apple SD Gothic Neo"/>
                <a:ea typeface="Apple SD Gothic Neo"/>
                <a:cs typeface="Apple SD Gothic Neo"/>
              </a:rPr>
              <a:t>자동 기록</a:t>
            </a:r>
          </a:p>
        </p:txBody>
      </p:sp>
      <p:sp>
        <p:nvSpPr>
          <p:cNvPr id="9" name="func-body-0">
            <a:extLst xmlns:a="http://schemas.openxmlformats.org/drawingml/2006/main">
              <a:ext uri="{FF2B5EF4-FFF2-40B4-BE49-F238E27FC236}">
                <a16:creationId xmlns:a16="http://schemas.microsoft.com/office/drawing/2014/main" id="{081483EF-81DB-4AF5-8F37-1A08824444F7}"/>
              </a:ext>
            </a:extLst>
          </p:cNvPr>
          <p:cNvSpPr>
            <a:spLocks xmlns:a="http://schemas.openxmlformats.org/drawingml/2006/main" noGrp="1"/>
          </p:cNvSpPr>
          <p:nvPr/>
        </p:nvSpPr>
        <p:spPr>
          <a:xfrm xmlns:a="http://schemas.openxmlformats.org/drawingml/2006/main">
            <a:off x="666750" y="52959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26383C"/>
                </a:solidFill>
                <a:latin typeface="Apple SD Gothic Neo"/>
                <a:ea typeface="Apple SD Gothic Neo"/>
                <a:cs typeface="Apple SD Gothic Neo"/>
              </a:defRPr>
            </a:pPr>
            <a:r>
              <a:rPr sz="1275" b="0">
                <a:solidFill>
                  <a:srgbClr val="26383C"/>
                </a:solidFill>
                <a:latin typeface="Apple SD Gothic Neo"/>
                <a:ea typeface="Apple SD Gothic Neo"/>
                <a:cs typeface="Apple SD Gothic Neo"/>
              </a:rPr>
              <a:t>단계별 시작 시간</a:t>
            </a:r>
          </a:p>
        </p:txBody>
      </p:sp>
      <p:sp>
        <p:nvSpPr>
          <p:cNvPr id="10" name="func-1">
            <a:extLst xmlns:a="http://schemas.openxmlformats.org/drawingml/2006/main">
              <a:ext uri="{FF2B5EF4-FFF2-40B4-BE49-F238E27FC236}">
                <a16:creationId xmlns:a16="http://schemas.microsoft.com/office/drawing/2014/main" id="{89F74E46-B63D-4EDB-AC8E-6E30E756B8F1}"/>
              </a:ext>
            </a:extLst>
          </p:cNvPr>
          <p:cNvSpPr>
            <a:spLocks xmlns:a="http://schemas.openxmlformats.org/drawingml/2006/main" noGrp="1"/>
          </p:cNvSpPr>
          <p:nvPr/>
        </p:nvSpPr>
        <p:spPr>
          <a:xfrm xmlns:a="http://schemas.openxmlformats.org/drawingml/2006/main">
            <a:off x="3276600" y="4714875"/>
            <a:ext cx="2476500" cy="1123950"/>
          </a:xfrm>
          <a:prstGeom xmlns:a="http://schemas.openxmlformats.org/drawingml/2006/main" prst="roundRect">
            <a:avLst>
              <a:gd name="adj" fmla="val 11864"/>
            </a:avLst>
          </a:prstGeom>
          <a:solidFill xmlns:a="http://schemas.openxmlformats.org/drawingml/2006/main">
            <a:srgbClr val="D8E8F2"/>
          </a:solidFill>
          <a:ln xmlns:a="http://schemas.openxmlformats.org/drawingml/2006/main" w="0">
            <a:noFill/>
            <a:prstDash val="solid"/>
          </a:ln>
        </p:spPr>
      </p:sp>
      <p:sp>
        <p:nvSpPr>
          <p:cNvPr id="11" name="func-title-1">
            <a:extLst xmlns:a="http://schemas.openxmlformats.org/drawingml/2006/main">
              <a:ext uri="{FF2B5EF4-FFF2-40B4-BE49-F238E27FC236}">
                <a16:creationId xmlns:a16="http://schemas.microsoft.com/office/drawing/2014/main" id="{82171896-E877-4A1B-81E1-49A4DAF8F17D}"/>
              </a:ext>
            </a:extLst>
          </p:cNvPr>
          <p:cNvSpPr>
            <a:spLocks xmlns:a="http://schemas.openxmlformats.org/drawingml/2006/main" noGrp="1"/>
          </p:cNvSpPr>
          <p:nvPr/>
        </p:nvSpPr>
        <p:spPr>
          <a:xfrm xmlns:a="http://schemas.openxmlformats.org/drawingml/2006/main">
            <a:off x="3448050" y="49149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7363C"/>
                </a:solidFill>
                <a:latin typeface="Apple SD Gothic Neo"/>
                <a:ea typeface="Apple SD Gothic Neo"/>
                <a:cs typeface="Apple SD Gothic Neo"/>
              </a:defRPr>
            </a:pPr>
            <a:r>
              <a:rPr sz="1650" b="1">
                <a:solidFill>
                  <a:srgbClr val="17363C"/>
                </a:solidFill>
                <a:latin typeface="Apple SD Gothic Neo"/>
                <a:ea typeface="Apple SD Gothic Neo"/>
                <a:cs typeface="Apple SD Gothic Neo"/>
              </a:rPr>
              <a:t>예정 계산</a:t>
            </a:r>
          </a:p>
        </p:txBody>
      </p:sp>
      <p:sp>
        <p:nvSpPr>
          <p:cNvPr id="12" name="func-body-1">
            <a:extLst xmlns:a="http://schemas.openxmlformats.org/drawingml/2006/main">
              <a:ext uri="{FF2B5EF4-FFF2-40B4-BE49-F238E27FC236}">
                <a16:creationId xmlns:a16="http://schemas.microsoft.com/office/drawing/2014/main" id="{9FE1A57D-D0CD-4214-8F01-AE277F80A08D}"/>
              </a:ext>
            </a:extLst>
          </p:cNvPr>
          <p:cNvSpPr>
            <a:spLocks xmlns:a="http://schemas.openxmlformats.org/drawingml/2006/main" noGrp="1"/>
          </p:cNvSpPr>
          <p:nvPr/>
        </p:nvSpPr>
        <p:spPr>
          <a:xfrm xmlns:a="http://schemas.openxmlformats.org/drawingml/2006/main">
            <a:off x="3448050" y="52959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26383C"/>
                </a:solidFill>
                <a:latin typeface="Apple SD Gothic Neo"/>
                <a:ea typeface="Apple SD Gothic Neo"/>
                <a:cs typeface="Apple SD Gothic Neo"/>
              </a:defRPr>
            </a:pPr>
            <a:r>
              <a:rPr sz="1275" b="0">
                <a:solidFill>
                  <a:srgbClr val="26383C"/>
                </a:solidFill>
                <a:latin typeface="Apple SD Gothic Neo"/>
                <a:ea typeface="Apple SD Gothic Neo"/>
                <a:cs typeface="Apple SD Gothic Neo"/>
              </a:rPr>
              <a:t>시술·대기 예상 시간</a:t>
            </a:r>
          </a:p>
        </p:txBody>
      </p:sp>
      <p:sp>
        <p:nvSpPr>
          <p:cNvPr id="13" name="func-2">
            <a:extLst xmlns:a="http://schemas.openxmlformats.org/drawingml/2006/main">
              <a:ext uri="{FF2B5EF4-FFF2-40B4-BE49-F238E27FC236}">
                <a16:creationId xmlns:a16="http://schemas.microsoft.com/office/drawing/2014/main" id="{C0660C7E-329D-4434-93B3-CA40B888E2F6}"/>
              </a:ext>
            </a:extLst>
          </p:cNvPr>
          <p:cNvSpPr>
            <a:spLocks xmlns:a="http://schemas.openxmlformats.org/drawingml/2006/main" noGrp="1"/>
          </p:cNvSpPr>
          <p:nvPr/>
        </p:nvSpPr>
        <p:spPr>
          <a:xfrm xmlns:a="http://schemas.openxmlformats.org/drawingml/2006/main">
            <a:off x="6057900" y="4714875"/>
            <a:ext cx="2476500" cy="1123950"/>
          </a:xfrm>
          <a:prstGeom xmlns:a="http://schemas.openxmlformats.org/drawingml/2006/main" prst="roundRect">
            <a:avLst>
              <a:gd name="adj" fmla="val 11864"/>
            </a:avLst>
          </a:prstGeom>
          <a:solidFill xmlns:a="http://schemas.openxmlformats.org/drawingml/2006/main">
            <a:srgbClr val="F6E3A1"/>
          </a:solidFill>
          <a:ln xmlns:a="http://schemas.openxmlformats.org/drawingml/2006/main" w="0">
            <a:noFill/>
            <a:prstDash val="solid"/>
          </a:ln>
        </p:spPr>
      </p:sp>
      <p:sp>
        <p:nvSpPr>
          <p:cNvPr id="14" name="func-title-2">
            <a:extLst xmlns:a="http://schemas.openxmlformats.org/drawingml/2006/main">
              <a:ext uri="{FF2B5EF4-FFF2-40B4-BE49-F238E27FC236}">
                <a16:creationId xmlns:a16="http://schemas.microsoft.com/office/drawing/2014/main" id="{09423B69-3CD0-4415-8421-4DD11AE79556}"/>
              </a:ext>
            </a:extLst>
          </p:cNvPr>
          <p:cNvSpPr>
            <a:spLocks xmlns:a="http://schemas.openxmlformats.org/drawingml/2006/main" noGrp="1"/>
          </p:cNvSpPr>
          <p:nvPr/>
        </p:nvSpPr>
        <p:spPr>
          <a:xfrm xmlns:a="http://schemas.openxmlformats.org/drawingml/2006/main">
            <a:off x="6229350" y="49149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7363C"/>
                </a:solidFill>
                <a:latin typeface="Apple SD Gothic Neo"/>
                <a:ea typeface="Apple SD Gothic Neo"/>
                <a:cs typeface="Apple SD Gothic Neo"/>
              </a:defRPr>
            </a:pPr>
            <a:r>
              <a:rPr sz="1650" b="1">
                <a:solidFill>
                  <a:srgbClr val="17363C"/>
                </a:solidFill>
                <a:latin typeface="Apple SD Gothic Neo"/>
                <a:ea typeface="Apple SD Gothic Neo"/>
                <a:cs typeface="Apple SD Gothic Neo"/>
              </a:rPr>
              <a:t>지연 표시</a:t>
            </a:r>
          </a:p>
        </p:txBody>
      </p:sp>
      <p:sp>
        <p:nvSpPr>
          <p:cNvPr id="15" name="func-body-2">
            <a:extLst xmlns:a="http://schemas.openxmlformats.org/drawingml/2006/main">
              <a:ext uri="{FF2B5EF4-FFF2-40B4-BE49-F238E27FC236}">
                <a16:creationId xmlns:a16="http://schemas.microsoft.com/office/drawing/2014/main" id="{5944D42A-2D13-4246-A84B-4536BD8C6E15}"/>
              </a:ext>
            </a:extLst>
          </p:cNvPr>
          <p:cNvSpPr>
            <a:spLocks xmlns:a="http://schemas.openxmlformats.org/drawingml/2006/main" noGrp="1"/>
          </p:cNvSpPr>
          <p:nvPr/>
        </p:nvSpPr>
        <p:spPr>
          <a:xfrm xmlns:a="http://schemas.openxmlformats.org/drawingml/2006/main">
            <a:off x="6229350" y="52959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26383C"/>
                </a:solidFill>
                <a:latin typeface="Apple SD Gothic Neo"/>
                <a:ea typeface="Apple SD Gothic Neo"/>
                <a:cs typeface="Apple SD Gothic Neo"/>
              </a:defRPr>
            </a:pPr>
            <a:r>
              <a:rPr sz="1275" b="0">
                <a:solidFill>
                  <a:srgbClr val="26383C"/>
                </a:solidFill>
                <a:latin typeface="Apple SD Gothic Neo"/>
                <a:ea typeface="Apple SD Gothic Neo"/>
                <a:cs typeface="Apple SD Gothic Neo"/>
              </a:rPr>
              <a:t>기준 초과 상태 강조</a:t>
            </a:r>
          </a:p>
        </p:txBody>
      </p:sp>
      <p:sp>
        <p:nvSpPr>
          <p:cNvPr id="16" name="func-3">
            <a:extLst xmlns:a="http://schemas.openxmlformats.org/drawingml/2006/main">
              <a:ext uri="{FF2B5EF4-FFF2-40B4-BE49-F238E27FC236}">
                <a16:creationId xmlns:a16="http://schemas.microsoft.com/office/drawing/2014/main" id="{C849199C-1BED-4793-8140-7D615671FE23}"/>
              </a:ext>
            </a:extLst>
          </p:cNvPr>
          <p:cNvSpPr>
            <a:spLocks xmlns:a="http://schemas.openxmlformats.org/drawingml/2006/main" noGrp="1"/>
          </p:cNvSpPr>
          <p:nvPr/>
        </p:nvSpPr>
        <p:spPr>
          <a:xfrm xmlns:a="http://schemas.openxmlformats.org/drawingml/2006/main">
            <a:off x="8839200" y="4714875"/>
            <a:ext cx="2476500" cy="1123950"/>
          </a:xfrm>
          <a:prstGeom xmlns:a="http://schemas.openxmlformats.org/drawingml/2006/main" prst="roundRect">
            <a:avLst>
              <a:gd name="adj" fmla="val 11864"/>
            </a:avLst>
          </a:prstGeom>
          <a:solidFill xmlns:a="http://schemas.openxmlformats.org/drawingml/2006/main">
            <a:srgbClr val="F3D9D5"/>
          </a:solidFill>
          <a:ln xmlns:a="http://schemas.openxmlformats.org/drawingml/2006/main" w="0">
            <a:noFill/>
            <a:prstDash val="solid"/>
          </a:ln>
        </p:spPr>
      </p:sp>
      <p:sp>
        <p:nvSpPr>
          <p:cNvPr id="17" name="func-title-3">
            <a:extLst xmlns:a="http://schemas.openxmlformats.org/drawingml/2006/main">
              <a:ext uri="{FF2B5EF4-FFF2-40B4-BE49-F238E27FC236}">
                <a16:creationId xmlns:a16="http://schemas.microsoft.com/office/drawing/2014/main" id="{BAF74CBF-166A-401F-99A7-FA229250B820}"/>
              </a:ext>
            </a:extLst>
          </p:cNvPr>
          <p:cNvSpPr>
            <a:spLocks xmlns:a="http://schemas.openxmlformats.org/drawingml/2006/main" noGrp="1"/>
          </p:cNvSpPr>
          <p:nvPr/>
        </p:nvSpPr>
        <p:spPr>
          <a:xfrm xmlns:a="http://schemas.openxmlformats.org/drawingml/2006/main">
            <a:off x="9010650" y="49149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7363C"/>
                </a:solidFill>
                <a:latin typeface="Apple SD Gothic Neo"/>
                <a:ea typeface="Apple SD Gothic Neo"/>
                <a:cs typeface="Apple SD Gothic Neo"/>
              </a:defRPr>
            </a:pPr>
            <a:r>
              <a:rPr sz="1650" b="1">
                <a:solidFill>
                  <a:srgbClr val="17363C"/>
                </a:solidFill>
                <a:latin typeface="Apple SD Gothic Neo"/>
                <a:ea typeface="Apple SD Gothic Neo"/>
                <a:cs typeface="Apple SD Gothic Neo"/>
              </a:rPr>
              <a:t>누락 경고</a:t>
            </a:r>
          </a:p>
        </p:txBody>
      </p:sp>
      <p:sp>
        <p:nvSpPr>
          <p:cNvPr id="18" name="func-body-3">
            <a:extLst xmlns:a="http://schemas.openxmlformats.org/drawingml/2006/main">
              <a:ext uri="{FF2B5EF4-FFF2-40B4-BE49-F238E27FC236}">
                <a16:creationId xmlns:a16="http://schemas.microsoft.com/office/drawing/2014/main" id="{61396DB9-185E-48D7-A3EF-B88A2B9FB7AF}"/>
              </a:ext>
            </a:extLst>
          </p:cNvPr>
          <p:cNvSpPr>
            <a:spLocks xmlns:a="http://schemas.openxmlformats.org/drawingml/2006/main" noGrp="1"/>
          </p:cNvSpPr>
          <p:nvPr/>
        </p:nvSpPr>
        <p:spPr>
          <a:xfrm xmlns:a="http://schemas.openxmlformats.org/drawingml/2006/main">
            <a:off x="9010650" y="52959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26383C"/>
                </a:solidFill>
                <a:latin typeface="Apple SD Gothic Neo"/>
                <a:ea typeface="Apple SD Gothic Neo"/>
                <a:cs typeface="Apple SD Gothic Neo"/>
              </a:defRPr>
            </a:pPr>
            <a:r>
              <a:rPr sz="1275" b="0">
                <a:solidFill>
                  <a:srgbClr val="26383C"/>
                </a:solidFill>
                <a:latin typeface="Apple SD Gothic Neo"/>
                <a:ea typeface="Apple SD Gothic Neo"/>
                <a:cs typeface="Apple SD Gothic Neo"/>
              </a:rPr>
              <a:t>필수값·의료진 미지정</a:t>
            </a:r>
          </a:p>
        </p:txBody>
      </p:sp>
      <p:sp>
        <p:nvSpPr>
          <p:cNvPr id="19" name="tools">
            <a:extLst xmlns:a="http://schemas.openxmlformats.org/drawingml/2006/main">
              <a:ext uri="{FF2B5EF4-FFF2-40B4-BE49-F238E27FC236}">
                <a16:creationId xmlns:a16="http://schemas.microsoft.com/office/drawing/2014/main" id="{B13994E0-8105-4CCA-9754-F65F4294B15D}"/>
              </a:ext>
            </a:extLst>
          </p:cNvPr>
          <p:cNvSpPr>
            <a:spLocks xmlns:a="http://schemas.openxmlformats.org/drawingml/2006/main" noGrp="1"/>
          </p:cNvSpPr>
          <p:nvPr/>
        </p:nvSpPr>
        <p:spPr>
          <a:xfrm xmlns:a="http://schemas.openxmlformats.org/drawingml/2006/main">
            <a:off x="495300" y="615315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6383C"/>
                </a:solidFill>
                <a:latin typeface="Apple SD Gothic Neo"/>
                <a:ea typeface="Apple SD Gothic Neo"/>
                <a:cs typeface="Apple SD Gothic Neo"/>
              </a:defRPr>
            </a:pPr>
            <a:r>
              <a:rPr sz="1500" b="1">
                <a:solidFill>
                  <a:srgbClr val="26383C"/>
                </a:solidFill>
                <a:latin typeface="Apple SD Gothic Neo"/>
                <a:ea typeface="Apple SD Gothic Neo"/>
                <a:cs typeface="Apple SD Gothic Neo"/>
              </a:rPr>
              <a:t>Google Apps Script로 시간 기록과 계산을 구현하고, 실제 시트에서 예외 상황을 반복 검증했습니다.</a:t>
            </a:r>
          </a:p>
        </p:txBody>
      </p:sp>
    </p:spTree>
    <p:extLst>
      <p:ext uri="{BB962C8B-B14F-4D97-AF65-F5344CB8AC3E}">
        <p14:creationId xmlns:p14="http://schemas.microsoft.com/office/powerpoint/2010/main" val="2115302242"/>
      </p:ext>
    </p:extLst>
  </p:cSld>
</p:sld>
</file>

<file path=ppt/slides/slide5.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24" name="chrome-5">
            <a:extLst xmlns:a="http://schemas.openxmlformats.org/drawingml/2006/main">
              <a:ext uri="{FF2B5EF4-FFF2-40B4-BE49-F238E27FC236}">
                <a16:creationId xmlns:a16="http://schemas.microsoft.com/office/drawing/2014/main" id="{A3365F43-3CF6-46C6-AB3A-9779BA02FD57}"/>
              </a:ext>
            </a:extLst>
          </p:cNvPr>
          <p:cNvSpPr>
            <a:spLocks xmlns:a="http://schemas.openxmlformats.org/drawingml/2006/main" noGrp="1"/>
          </p:cNvSpPr>
          <p:nvPr/>
        </p:nvSpPr>
        <p:spPr>
          <a:xfrm xmlns:a="http://schemas.openxmlformats.org/drawingml/2006/main">
            <a:off x="495300" y="2857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687779"/>
                </a:solidFill>
                <a:latin typeface="Apple SD Gothic Neo"/>
                <a:ea typeface="Apple SD Gothic Neo"/>
                <a:cs typeface="Apple SD Gothic Neo"/>
              </a:defRPr>
            </a:pPr>
            <a:r>
              <a:rPr sz="975" b="1">
                <a:solidFill>
                  <a:srgbClr val="687779"/>
                </a:solidFill>
                <a:latin typeface="Apple SD Gothic Neo"/>
                <a:ea typeface="Apple SD Gothic Neo"/>
                <a:cs typeface="Apple SD Gothic Neo"/>
              </a:rPr>
              <a:t>SHARED VIEW · BOTTLENECK VISIBILITY</a:t>
            </a:r>
          </a:p>
        </p:txBody>
      </p:sp>
      <p:sp>
        <p:nvSpPr>
          <p:cNvPr id="2" name="page-5">
            <a:extLst xmlns:a="http://schemas.openxmlformats.org/drawingml/2006/main">
              <a:ext uri="{FF2B5EF4-FFF2-40B4-BE49-F238E27FC236}">
                <a16:creationId xmlns:a16="http://schemas.microsoft.com/office/drawing/2014/main" id="{780B2788-419F-491B-8DC7-1141CB6E31D6}"/>
              </a:ext>
            </a:extLst>
          </p:cNvPr>
          <p:cNvSpPr>
            <a:spLocks xmlns:a="http://schemas.openxmlformats.org/drawingml/2006/main" noGrp="1"/>
          </p:cNvSpPr>
          <p:nvPr/>
        </p:nvSpPr>
        <p:spPr>
          <a:xfrm xmlns:a="http://schemas.openxmlformats.org/drawingml/2006/main">
            <a:off x="11334750" y="6419850"/>
            <a:ext cx="3238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687779"/>
                </a:solidFill>
                <a:latin typeface="Apple SD Gothic Neo"/>
                <a:ea typeface="Apple SD Gothic Neo"/>
                <a:cs typeface="Apple SD Gothic Neo"/>
              </a:defRPr>
            </a:pPr>
            <a:r>
              <a:rPr sz="900" b="1">
                <a:solidFill>
                  <a:srgbClr val="687779"/>
                </a:solidFill>
                <a:latin typeface="Apple SD Gothic Neo"/>
                <a:ea typeface="Apple SD Gothic Neo"/>
                <a:cs typeface="Apple SD Gothic Neo"/>
              </a:rPr>
              <a:t>05</a:t>
            </a:r>
          </a:p>
        </p:txBody>
      </p:sp>
      <p:sp>
        <p:nvSpPr>
          <p:cNvPr id="3" name="title">
            <a:extLst xmlns:a="http://schemas.openxmlformats.org/drawingml/2006/main">
              <a:ext uri="{FF2B5EF4-FFF2-40B4-BE49-F238E27FC236}">
                <a16:creationId xmlns:a16="http://schemas.microsoft.com/office/drawing/2014/main" id="{B1B6FA81-3C7E-425E-8D11-B777811EBE07}"/>
              </a:ext>
            </a:extLst>
          </p:cNvPr>
          <p:cNvSpPr>
            <a:spLocks xmlns:a="http://schemas.openxmlformats.org/drawingml/2006/main" noGrp="1"/>
          </p:cNvSpPr>
          <p:nvPr/>
        </p:nvSpPr>
        <p:spPr>
          <a:xfrm xmlns:a="http://schemas.openxmlformats.org/drawingml/2006/main">
            <a:off x="495300" y="685800"/>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17363C"/>
                </a:solidFill>
                <a:latin typeface="Apple SD Gothic Neo"/>
                <a:ea typeface="Apple SD Gothic Neo"/>
                <a:cs typeface="Apple SD Gothic Neo"/>
              </a:defRPr>
            </a:pPr>
            <a:r>
              <a:rPr sz="3000" b="1">
                <a:solidFill>
                  <a:srgbClr val="17363C"/>
                </a:solidFill>
                <a:latin typeface="Apple SD Gothic Neo"/>
                <a:ea typeface="Apple SD Gothic Neo"/>
                <a:cs typeface="Apple SD Gothic Neo"/>
              </a:rPr>
              <a:t>시술별 대기와 원내 인력을 함께 보며 병목을 판단했습니다</a:t>
            </a:r>
          </a:p>
        </p:txBody>
      </p:sp>
      <p:sp>
        <p:nvSpPr>
          <p:cNvPr id="4" name="sheet-frame">
            <a:extLst xmlns:a="http://schemas.openxmlformats.org/drawingml/2006/main">
              <a:ext uri="{FF2B5EF4-FFF2-40B4-BE49-F238E27FC236}">
                <a16:creationId xmlns:a16="http://schemas.microsoft.com/office/drawing/2014/main" id="{5549A339-E852-4834-8134-0285E6F33876}"/>
              </a:ext>
            </a:extLst>
          </p:cNvPr>
          <p:cNvSpPr>
            <a:spLocks xmlns:a="http://schemas.openxmlformats.org/drawingml/2006/main" noGrp="1"/>
          </p:cNvSpPr>
          <p:nvPr/>
        </p:nvSpPr>
        <p:spPr>
          <a:xfrm xmlns:a="http://schemas.openxmlformats.org/drawingml/2006/main">
            <a:off x="495300" y="1466850"/>
            <a:ext cx="7762875" cy="4572000"/>
          </a:xfrm>
          <a:prstGeom xmlns:a="http://schemas.openxmlformats.org/drawingml/2006/main" prst="roundRect">
            <a:avLst>
              <a:gd name="adj" fmla="val 3333"/>
            </a:avLst>
          </a:prstGeom>
          <a:solidFill xmlns:a="http://schemas.openxmlformats.org/drawingml/2006/main">
            <a:srgbClr val="FFFFFF"/>
          </a:solidFill>
          <a:ln xmlns:a="http://schemas.openxmlformats.org/drawingml/2006/main" w="9525">
            <a:solidFill>
              <a:srgbClr val="D3DDD7"/>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a7c7a4509d14b6a"/>
          <a:stretch xmlns:a="http://schemas.openxmlformats.org/drawingml/2006/main"/>
        </p:blipFill>
        <p:spPr>
          <a:xfrm xmlns:a="http://schemas.openxmlformats.org/drawingml/2006/main">
            <a:off x="647700" y="1786885"/>
            <a:ext cx="7458075" cy="3931931"/>
          </a:xfrm>
          <a:prstGeom xmlns:a="http://schemas.openxmlformats.org/drawingml/2006/main" prst="roundRect">
            <a:avLst>
              <a:gd name="adj" fmla="val 2252"/>
            </a:avLst>
          </a:prstGeom>
        </p:spPr>
      </p:pic>
      <p:cxnSp>
        <p:nvCxnSpPr>
          <p:cNvPr id="29" name=""/>
          <p:cNvCxnSpPr/>
          <p:nvPr/>
        </p:nvCxnSpPr>
        <p:spPr>
          <a:xfrm xmlns:a="http://schemas.openxmlformats.org/drawingml/2006/main">
            <a:off x="8667750" y="1628775"/>
            <a:ext cx="2571750" cy="0"/>
          </a:xfrm>
          <a:prstGeom xmlns:a="http://schemas.openxmlformats.org/drawingml/2006/main" prst="straightConnector1">
            <a:avLst/>
          </a:prstGeom>
          <a:ln xmlns:a="http://schemas.openxmlformats.org/drawingml/2006/main" w="38100">
            <a:solidFill>
              <a:srgbClr val="87B978"/>
            </a:solidFill>
            <a:prstDash val="solid"/>
          </a:ln>
        </p:spPr>
      </p:cxnSp>
      <p:sp>
        <p:nvSpPr>
          <p:cNvPr id="7" name="right-title">
            <a:extLst xmlns:a="http://schemas.openxmlformats.org/drawingml/2006/main">
              <a:ext uri="{FF2B5EF4-FFF2-40B4-BE49-F238E27FC236}">
                <a16:creationId xmlns:a16="http://schemas.microsoft.com/office/drawing/2014/main" id="{A958EBCA-04FE-48E4-8F7F-E4DF1BE56159}"/>
              </a:ext>
            </a:extLst>
          </p:cNvPr>
          <p:cNvSpPr>
            <a:spLocks xmlns:a="http://schemas.openxmlformats.org/drawingml/2006/main" noGrp="1"/>
          </p:cNvSpPr>
          <p:nvPr/>
        </p:nvSpPr>
        <p:spPr>
          <a:xfrm xmlns:a="http://schemas.openxmlformats.org/drawingml/2006/main">
            <a:off x="8667750" y="185737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7363C"/>
                </a:solidFill>
                <a:latin typeface="Apple SD Gothic Neo"/>
                <a:ea typeface="Apple SD Gothic Neo"/>
                <a:cs typeface="Apple SD Gothic Neo"/>
              </a:defRPr>
            </a:pPr>
            <a:r>
              <a:rPr sz="1800" b="1">
                <a:solidFill>
                  <a:srgbClr val="17363C"/>
                </a:solidFill>
                <a:latin typeface="Apple SD Gothic Neo"/>
                <a:ea typeface="Apple SD Gothic Neo"/>
                <a:cs typeface="Apple SD Gothic Neo"/>
              </a:rPr>
              <a:t>한 화면에서 확인</a:t>
            </a:r>
          </a:p>
        </p:txBody>
      </p:sp>
      <p:sp>
        <p:nvSpPr>
          <p:cNvPr id="8" name="check-0">
            <a:extLst xmlns:a="http://schemas.openxmlformats.org/drawingml/2006/main">
              <a:ext uri="{FF2B5EF4-FFF2-40B4-BE49-F238E27FC236}">
                <a16:creationId xmlns:a16="http://schemas.microsoft.com/office/drawing/2014/main" id="{48C6D0F1-D512-4772-B19F-7977E76BACDB}"/>
              </a:ext>
            </a:extLst>
          </p:cNvPr>
          <p:cNvSpPr>
            <a:spLocks xmlns:a="http://schemas.openxmlformats.org/drawingml/2006/main" noGrp="1"/>
          </p:cNvSpPr>
          <p:nvPr/>
        </p:nvSpPr>
        <p:spPr>
          <a:xfrm xmlns:a="http://schemas.openxmlformats.org/drawingml/2006/main">
            <a:off x="8667750" y="2381250"/>
            <a:ext cx="333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87B978"/>
                </a:solidFill>
                <a:latin typeface="Apple SD Gothic Neo"/>
                <a:ea typeface="Apple SD Gothic Neo"/>
                <a:cs typeface="Apple SD Gothic Neo"/>
              </a:defRPr>
            </a:pPr>
            <a:r>
              <a:rPr sz="975" b="1">
                <a:solidFill>
                  <a:srgbClr val="87B978"/>
                </a:solidFill>
                <a:latin typeface="Apple SD Gothic Neo"/>
                <a:ea typeface="Apple SD Gothic Neo"/>
                <a:cs typeface="Apple SD Gothic Neo"/>
              </a:rPr>
              <a:t>01</a:t>
            </a:r>
          </a:p>
        </p:txBody>
      </p:sp>
      <p:sp>
        <p:nvSpPr>
          <p:cNvPr id="9" name="list-0">
            <a:extLst xmlns:a="http://schemas.openxmlformats.org/drawingml/2006/main">
              <a:ext uri="{FF2B5EF4-FFF2-40B4-BE49-F238E27FC236}">
                <a16:creationId xmlns:a16="http://schemas.microsoft.com/office/drawing/2014/main" id="{C8847171-547D-4003-94B3-BF8BD60CA5D3}"/>
              </a:ext>
            </a:extLst>
          </p:cNvPr>
          <p:cNvSpPr>
            <a:spLocks xmlns:a="http://schemas.openxmlformats.org/drawingml/2006/main" noGrp="1"/>
          </p:cNvSpPr>
          <p:nvPr/>
        </p:nvSpPr>
        <p:spPr>
          <a:xfrm xmlns:a="http://schemas.openxmlformats.org/drawingml/2006/main">
            <a:off x="9096375" y="2352675"/>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26383C"/>
                </a:solidFill>
                <a:latin typeface="Apple SD Gothic Neo"/>
                <a:ea typeface="Apple SD Gothic Neo"/>
                <a:cs typeface="Apple SD Gothic Neo"/>
              </a:defRPr>
            </a:pPr>
            <a:r>
              <a:rPr sz="1425" b="1">
                <a:solidFill>
                  <a:srgbClr val="26383C"/>
                </a:solidFill>
                <a:latin typeface="Apple SD Gothic Neo"/>
                <a:ea typeface="Apple SD Gothic Neo"/>
                <a:cs typeface="Apple SD Gothic Neo"/>
              </a:rPr>
              <a:t>시술별 진행 시간</a:t>
            </a:r>
          </a:p>
        </p:txBody>
      </p:sp>
      <p:cxnSp>
        <p:nvCxnSpPr>
          <p:cNvPr id="33" name=""/>
          <p:cNvCxnSpPr/>
          <p:nvPr/>
        </p:nvCxnSpPr>
        <p:spPr>
          <a:xfrm xmlns:a="http://schemas.openxmlformats.org/drawingml/2006/main">
            <a:off x="9096375" y="2686050"/>
            <a:ext cx="2095500" cy="0"/>
          </a:xfrm>
          <a:prstGeom xmlns:a="http://schemas.openxmlformats.org/drawingml/2006/main" prst="straightConnector1">
            <a:avLst/>
          </a:prstGeom>
          <a:ln xmlns:a="http://schemas.openxmlformats.org/drawingml/2006/main" w="9525">
            <a:solidFill>
              <a:srgbClr val="CCD6D1"/>
            </a:solidFill>
            <a:prstDash val="solid"/>
          </a:ln>
        </p:spPr>
      </p:cxnSp>
      <p:sp>
        <p:nvSpPr>
          <p:cNvPr id="11" name="check-1">
            <a:extLst xmlns:a="http://schemas.openxmlformats.org/drawingml/2006/main">
              <a:ext uri="{FF2B5EF4-FFF2-40B4-BE49-F238E27FC236}">
                <a16:creationId xmlns:a16="http://schemas.microsoft.com/office/drawing/2014/main" id="{8D872AA2-D572-4E98-B9C3-52451B2FE438}"/>
              </a:ext>
            </a:extLst>
          </p:cNvPr>
          <p:cNvSpPr>
            <a:spLocks xmlns:a="http://schemas.openxmlformats.org/drawingml/2006/main" noGrp="1"/>
          </p:cNvSpPr>
          <p:nvPr/>
        </p:nvSpPr>
        <p:spPr>
          <a:xfrm xmlns:a="http://schemas.openxmlformats.org/drawingml/2006/main">
            <a:off x="8667750" y="2895600"/>
            <a:ext cx="333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87B978"/>
                </a:solidFill>
                <a:latin typeface="Apple SD Gothic Neo"/>
                <a:ea typeface="Apple SD Gothic Neo"/>
                <a:cs typeface="Apple SD Gothic Neo"/>
              </a:defRPr>
            </a:pPr>
            <a:r>
              <a:rPr sz="975" b="1">
                <a:solidFill>
                  <a:srgbClr val="87B978"/>
                </a:solidFill>
                <a:latin typeface="Apple SD Gothic Neo"/>
                <a:ea typeface="Apple SD Gothic Neo"/>
                <a:cs typeface="Apple SD Gothic Neo"/>
              </a:rPr>
              <a:t>02</a:t>
            </a:r>
          </a:p>
        </p:txBody>
      </p:sp>
      <p:sp>
        <p:nvSpPr>
          <p:cNvPr id="12" name="list-1">
            <a:extLst xmlns:a="http://schemas.openxmlformats.org/drawingml/2006/main">
              <a:ext uri="{FF2B5EF4-FFF2-40B4-BE49-F238E27FC236}">
                <a16:creationId xmlns:a16="http://schemas.microsoft.com/office/drawing/2014/main" id="{BE6EC39C-6F56-495E-B45D-5D6A52045092}"/>
              </a:ext>
            </a:extLst>
          </p:cNvPr>
          <p:cNvSpPr>
            <a:spLocks xmlns:a="http://schemas.openxmlformats.org/drawingml/2006/main" noGrp="1"/>
          </p:cNvSpPr>
          <p:nvPr/>
        </p:nvSpPr>
        <p:spPr>
          <a:xfrm xmlns:a="http://schemas.openxmlformats.org/drawingml/2006/main">
            <a:off x="9096375" y="2867025"/>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26383C"/>
                </a:solidFill>
                <a:latin typeface="Apple SD Gothic Neo"/>
                <a:ea typeface="Apple SD Gothic Neo"/>
                <a:cs typeface="Apple SD Gothic Neo"/>
              </a:defRPr>
            </a:pPr>
            <a:r>
              <a:rPr sz="1425" b="1">
                <a:solidFill>
                  <a:srgbClr val="26383C"/>
                </a:solidFill>
                <a:latin typeface="Apple SD Gothic Neo"/>
                <a:ea typeface="Apple SD Gothic Neo"/>
                <a:cs typeface="Apple SD Gothic Neo"/>
              </a:rPr>
              <a:t>대기 중 예상 시간</a:t>
            </a:r>
          </a:p>
        </p:txBody>
      </p:sp>
      <p:cxnSp>
        <p:nvCxnSpPr>
          <p:cNvPr id="36" name=""/>
          <p:cNvCxnSpPr/>
          <p:nvPr/>
        </p:nvCxnSpPr>
        <p:spPr>
          <a:xfrm xmlns:a="http://schemas.openxmlformats.org/drawingml/2006/main">
            <a:off x="9096375" y="3200400"/>
            <a:ext cx="2095500" cy="0"/>
          </a:xfrm>
          <a:prstGeom xmlns:a="http://schemas.openxmlformats.org/drawingml/2006/main" prst="straightConnector1">
            <a:avLst/>
          </a:prstGeom>
          <a:ln xmlns:a="http://schemas.openxmlformats.org/drawingml/2006/main" w="9525">
            <a:solidFill>
              <a:srgbClr val="CCD6D1"/>
            </a:solidFill>
            <a:prstDash val="solid"/>
          </a:ln>
        </p:spPr>
      </p:cxnSp>
      <p:sp>
        <p:nvSpPr>
          <p:cNvPr id="14" name="check-2">
            <a:extLst xmlns:a="http://schemas.openxmlformats.org/drawingml/2006/main">
              <a:ext uri="{FF2B5EF4-FFF2-40B4-BE49-F238E27FC236}">
                <a16:creationId xmlns:a16="http://schemas.microsoft.com/office/drawing/2014/main" id="{F0492C6A-402D-4549-ACC8-2AD3CA2E54F6}"/>
              </a:ext>
            </a:extLst>
          </p:cNvPr>
          <p:cNvSpPr>
            <a:spLocks xmlns:a="http://schemas.openxmlformats.org/drawingml/2006/main" noGrp="1"/>
          </p:cNvSpPr>
          <p:nvPr/>
        </p:nvSpPr>
        <p:spPr>
          <a:xfrm xmlns:a="http://schemas.openxmlformats.org/drawingml/2006/main">
            <a:off x="8667750" y="3409950"/>
            <a:ext cx="333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87B978"/>
                </a:solidFill>
                <a:latin typeface="Apple SD Gothic Neo"/>
                <a:ea typeface="Apple SD Gothic Neo"/>
                <a:cs typeface="Apple SD Gothic Neo"/>
              </a:defRPr>
            </a:pPr>
            <a:r>
              <a:rPr sz="975" b="1">
                <a:solidFill>
                  <a:srgbClr val="87B978"/>
                </a:solidFill>
                <a:latin typeface="Apple SD Gothic Neo"/>
                <a:ea typeface="Apple SD Gothic Neo"/>
                <a:cs typeface="Apple SD Gothic Neo"/>
              </a:rPr>
              <a:t>03</a:t>
            </a:r>
          </a:p>
        </p:txBody>
      </p:sp>
      <p:sp>
        <p:nvSpPr>
          <p:cNvPr id="15" name="list-2">
            <a:extLst xmlns:a="http://schemas.openxmlformats.org/drawingml/2006/main">
              <a:ext uri="{FF2B5EF4-FFF2-40B4-BE49-F238E27FC236}">
                <a16:creationId xmlns:a16="http://schemas.microsoft.com/office/drawing/2014/main" id="{987C31D4-8EEE-4CCC-BBAB-932EB7C773AE}"/>
              </a:ext>
            </a:extLst>
          </p:cNvPr>
          <p:cNvSpPr>
            <a:spLocks xmlns:a="http://schemas.openxmlformats.org/drawingml/2006/main" noGrp="1"/>
          </p:cNvSpPr>
          <p:nvPr/>
        </p:nvSpPr>
        <p:spPr>
          <a:xfrm xmlns:a="http://schemas.openxmlformats.org/drawingml/2006/main">
            <a:off x="9096375" y="3381375"/>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26383C"/>
                </a:solidFill>
                <a:latin typeface="Apple SD Gothic Neo"/>
                <a:ea typeface="Apple SD Gothic Neo"/>
                <a:cs typeface="Apple SD Gothic Neo"/>
              </a:defRPr>
            </a:pPr>
            <a:r>
              <a:rPr sz="1425" b="1">
                <a:solidFill>
                  <a:srgbClr val="26383C"/>
                </a:solidFill>
                <a:latin typeface="Apple SD Gothic Neo"/>
                <a:ea typeface="Apple SD Gothic Neo"/>
                <a:cs typeface="Apple SD Gothic Neo"/>
              </a:rPr>
              <a:t>원내 의료진·직원 현황</a:t>
            </a:r>
          </a:p>
        </p:txBody>
      </p:sp>
      <p:cxnSp>
        <p:nvCxnSpPr>
          <p:cNvPr id="39" name=""/>
          <p:cNvCxnSpPr/>
          <p:nvPr/>
        </p:nvCxnSpPr>
        <p:spPr>
          <a:xfrm xmlns:a="http://schemas.openxmlformats.org/drawingml/2006/main">
            <a:off x="9096375" y="3714750"/>
            <a:ext cx="2095500" cy="0"/>
          </a:xfrm>
          <a:prstGeom xmlns:a="http://schemas.openxmlformats.org/drawingml/2006/main" prst="straightConnector1">
            <a:avLst/>
          </a:prstGeom>
          <a:ln xmlns:a="http://schemas.openxmlformats.org/drawingml/2006/main" w="9525">
            <a:solidFill>
              <a:srgbClr val="CCD6D1"/>
            </a:solidFill>
            <a:prstDash val="solid"/>
          </a:ln>
        </p:spPr>
      </p:cxnSp>
      <p:sp>
        <p:nvSpPr>
          <p:cNvPr id="17" name="check-3">
            <a:extLst xmlns:a="http://schemas.openxmlformats.org/drawingml/2006/main">
              <a:ext uri="{FF2B5EF4-FFF2-40B4-BE49-F238E27FC236}">
                <a16:creationId xmlns:a16="http://schemas.microsoft.com/office/drawing/2014/main" id="{F2751491-F10E-4CE1-9439-8A453C379D80}"/>
              </a:ext>
            </a:extLst>
          </p:cNvPr>
          <p:cNvSpPr>
            <a:spLocks xmlns:a="http://schemas.openxmlformats.org/drawingml/2006/main" noGrp="1"/>
          </p:cNvSpPr>
          <p:nvPr/>
        </p:nvSpPr>
        <p:spPr>
          <a:xfrm xmlns:a="http://schemas.openxmlformats.org/drawingml/2006/main">
            <a:off x="8667750" y="3924300"/>
            <a:ext cx="333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87B978"/>
                </a:solidFill>
                <a:latin typeface="Apple SD Gothic Neo"/>
                <a:ea typeface="Apple SD Gothic Neo"/>
                <a:cs typeface="Apple SD Gothic Neo"/>
              </a:defRPr>
            </a:pPr>
            <a:r>
              <a:rPr sz="975" b="1">
                <a:solidFill>
                  <a:srgbClr val="87B978"/>
                </a:solidFill>
                <a:latin typeface="Apple SD Gothic Neo"/>
                <a:ea typeface="Apple SD Gothic Neo"/>
                <a:cs typeface="Apple SD Gothic Neo"/>
              </a:rPr>
              <a:t>04</a:t>
            </a:r>
          </a:p>
        </p:txBody>
      </p:sp>
      <p:sp>
        <p:nvSpPr>
          <p:cNvPr id="18" name="list-3">
            <a:extLst xmlns:a="http://schemas.openxmlformats.org/drawingml/2006/main">
              <a:ext uri="{FF2B5EF4-FFF2-40B4-BE49-F238E27FC236}">
                <a16:creationId xmlns:a16="http://schemas.microsoft.com/office/drawing/2014/main" id="{F30864F8-44D5-486A-91C2-00A5B8C5DBD4}"/>
              </a:ext>
            </a:extLst>
          </p:cNvPr>
          <p:cNvSpPr>
            <a:spLocks xmlns:a="http://schemas.openxmlformats.org/drawingml/2006/main" noGrp="1"/>
          </p:cNvSpPr>
          <p:nvPr/>
        </p:nvSpPr>
        <p:spPr>
          <a:xfrm xmlns:a="http://schemas.openxmlformats.org/drawingml/2006/main">
            <a:off x="9096375" y="3895725"/>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26383C"/>
                </a:solidFill>
                <a:latin typeface="Apple SD Gothic Neo"/>
                <a:ea typeface="Apple SD Gothic Neo"/>
                <a:cs typeface="Apple SD Gothic Neo"/>
              </a:defRPr>
            </a:pPr>
            <a:r>
              <a:rPr sz="1425" b="1">
                <a:solidFill>
                  <a:srgbClr val="26383C"/>
                </a:solidFill>
                <a:latin typeface="Apple SD Gothic Neo"/>
                <a:ea typeface="Apple SD Gothic Neo"/>
                <a:cs typeface="Apple SD Gothic Neo"/>
              </a:rPr>
              <a:t>휴무·점심·종료 예정</a:t>
            </a:r>
          </a:p>
        </p:txBody>
      </p:sp>
      <p:cxnSp>
        <p:nvCxnSpPr>
          <p:cNvPr id="42" name=""/>
          <p:cNvCxnSpPr/>
          <p:nvPr/>
        </p:nvCxnSpPr>
        <p:spPr>
          <a:xfrm xmlns:a="http://schemas.openxmlformats.org/drawingml/2006/main">
            <a:off x="9096375" y="4229100"/>
            <a:ext cx="2095500" cy="0"/>
          </a:xfrm>
          <a:prstGeom xmlns:a="http://schemas.openxmlformats.org/drawingml/2006/main" prst="straightConnector1">
            <a:avLst/>
          </a:prstGeom>
          <a:ln xmlns:a="http://schemas.openxmlformats.org/drawingml/2006/main" w="9525">
            <a:solidFill>
              <a:srgbClr val="CCD6D1"/>
            </a:solidFill>
            <a:prstDash val="solid"/>
          </a:ln>
        </p:spPr>
      </p:cxnSp>
      <p:sp>
        <p:nvSpPr>
          <p:cNvPr id="20" name="check-4">
            <a:extLst xmlns:a="http://schemas.openxmlformats.org/drawingml/2006/main">
              <a:ext uri="{FF2B5EF4-FFF2-40B4-BE49-F238E27FC236}">
                <a16:creationId xmlns:a16="http://schemas.microsoft.com/office/drawing/2014/main" id="{FB292673-813A-4F3F-9177-D8B170E516A6}"/>
              </a:ext>
            </a:extLst>
          </p:cNvPr>
          <p:cNvSpPr>
            <a:spLocks xmlns:a="http://schemas.openxmlformats.org/drawingml/2006/main" noGrp="1"/>
          </p:cNvSpPr>
          <p:nvPr/>
        </p:nvSpPr>
        <p:spPr>
          <a:xfrm xmlns:a="http://schemas.openxmlformats.org/drawingml/2006/main">
            <a:off x="8667750" y="4438650"/>
            <a:ext cx="333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87B978"/>
                </a:solidFill>
                <a:latin typeface="Apple SD Gothic Neo"/>
                <a:ea typeface="Apple SD Gothic Neo"/>
                <a:cs typeface="Apple SD Gothic Neo"/>
              </a:defRPr>
            </a:pPr>
            <a:r>
              <a:rPr sz="975" b="1">
                <a:solidFill>
                  <a:srgbClr val="87B978"/>
                </a:solidFill>
                <a:latin typeface="Apple SD Gothic Neo"/>
                <a:ea typeface="Apple SD Gothic Neo"/>
                <a:cs typeface="Apple SD Gothic Neo"/>
              </a:rPr>
              <a:t>05</a:t>
            </a:r>
          </a:p>
        </p:txBody>
      </p:sp>
      <p:sp>
        <p:nvSpPr>
          <p:cNvPr id="21" name="list-4">
            <a:extLst xmlns:a="http://schemas.openxmlformats.org/drawingml/2006/main">
              <a:ext uri="{FF2B5EF4-FFF2-40B4-BE49-F238E27FC236}">
                <a16:creationId xmlns:a16="http://schemas.microsoft.com/office/drawing/2014/main" id="{1108A891-DD2E-48A4-81A5-8DDD693D99BC}"/>
              </a:ext>
            </a:extLst>
          </p:cNvPr>
          <p:cNvSpPr>
            <a:spLocks xmlns:a="http://schemas.openxmlformats.org/drawingml/2006/main" noGrp="1"/>
          </p:cNvSpPr>
          <p:nvPr/>
        </p:nvSpPr>
        <p:spPr>
          <a:xfrm xmlns:a="http://schemas.openxmlformats.org/drawingml/2006/main">
            <a:off x="9096375" y="4410075"/>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26383C"/>
                </a:solidFill>
                <a:latin typeface="Apple SD Gothic Neo"/>
                <a:ea typeface="Apple SD Gothic Neo"/>
                <a:cs typeface="Apple SD Gothic Neo"/>
              </a:defRPr>
            </a:pPr>
            <a:r>
              <a:rPr sz="1425" b="1">
                <a:solidFill>
                  <a:srgbClr val="26383C"/>
                </a:solidFill>
                <a:latin typeface="Apple SD Gothic Neo"/>
                <a:ea typeface="Apple SD Gothic Neo"/>
                <a:cs typeface="Apple SD Gothic Neo"/>
              </a:rPr>
              <a:t>지연 기준 색상 구분</a:t>
            </a:r>
          </a:p>
        </p:txBody>
      </p:sp>
      <p:sp>
        <p:nvSpPr>
          <p:cNvPr id="22" name="callout">
            <a:extLst xmlns:a="http://schemas.openxmlformats.org/drawingml/2006/main">
              <a:ext uri="{FF2B5EF4-FFF2-40B4-BE49-F238E27FC236}">
                <a16:creationId xmlns:a16="http://schemas.microsoft.com/office/drawing/2014/main" id="{13F8C819-8EF7-4451-B32A-7A7BEBE12F2A}"/>
              </a:ext>
            </a:extLst>
          </p:cNvPr>
          <p:cNvSpPr>
            <a:spLocks xmlns:a="http://schemas.openxmlformats.org/drawingml/2006/main" noGrp="1"/>
          </p:cNvSpPr>
          <p:nvPr/>
        </p:nvSpPr>
        <p:spPr>
          <a:xfrm xmlns:a="http://schemas.openxmlformats.org/drawingml/2006/main">
            <a:off x="8667750" y="5191125"/>
            <a:ext cx="2571750" cy="819150"/>
          </a:xfrm>
          <a:prstGeom xmlns:a="http://schemas.openxmlformats.org/drawingml/2006/main" prst="roundRect">
            <a:avLst>
              <a:gd name="adj" fmla="val 13953"/>
            </a:avLst>
          </a:prstGeom>
          <a:solidFill xmlns:a="http://schemas.openxmlformats.org/drawingml/2006/main">
            <a:srgbClr val="DDECDD"/>
          </a:solidFill>
          <a:ln xmlns:a="http://schemas.openxmlformats.org/drawingml/2006/main" w="0">
            <a:noFill/>
            <a:prstDash val="solid"/>
          </a:ln>
        </p:spPr>
      </p:sp>
      <p:sp>
        <p:nvSpPr>
          <p:cNvPr id="23" name="callout-text">
            <a:extLst xmlns:a="http://schemas.openxmlformats.org/drawingml/2006/main">
              <a:ext uri="{FF2B5EF4-FFF2-40B4-BE49-F238E27FC236}">
                <a16:creationId xmlns:a16="http://schemas.microsoft.com/office/drawing/2014/main" id="{89AD2FDA-C6E5-4816-A616-7408AF2F5AC2}"/>
              </a:ext>
            </a:extLst>
          </p:cNvPr>
          <p:cNvSpPr>
            <a:spLocks xmlns:a="http://schemas.openxmlformats.org/drawingml/2006/main" noGrp="1"/>
          </p:cNvSpPr>
          <p:nvPr/>
        </p:nvSpPr>
        <p:spPr>
          <a:xfrm xmlns:a="http://schemas.openxmlformats.org/drawingml/2006/main">
            <a:off x="8877300" y="53625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17363C"/>
                </a:solidFill>
                <a:latin typeface="Apple SD Gothic Neo"/>
                <a:ea typeface="Apple SD Gothic Neo"/>
                <a:cs typeface="Apple SD Gothic Neo"/>
              </a:defRPr>
            </a:pPr>
            <a:r>
              <a:rPr sz="1425" b="1">
                <a:solidFill>
                  <a:srgbClr val="17363C"/>
                </a:solidFill>
                <a:latin typeface="Apple SD Gothic Neo"/>
                <a:ea typeface="Apple SD Gothic Neo"/>
                <a:cs typeface="Apple SD Gothic Neo"/>
              </a:rPr>
              <a:t>계속 질문하지 않아도</a:t>
            </a:r>
          </a:p>
          <a:p xmlns:a="http://schemas.openxmlformats.org/drawingml/2006/main">
            <a:pPr algn="l">
              <a:defRPr sz="1425" b="1">
                <a:solidFill>
                  <a:srgbClr val="17363C"/>
                </a:solidFill>
                <a:latin typeface="Apple SD Gothic Neo"/>
                <a:ea typeface="Apple SD Gothic Neo"/>
                <a:cs typeface="Apple SD Gothic Neo"/>
              </a:defRPr>
            </a:pPr>
            <a:r>
              <a:rPr sz="1425" b="1">
                <a:solidFill>
                  <a:srgbClr val="17363C"/>
                </a:solidFill>
                <a:latin typeface="Apple SD Gothic Neo"/>
                <a:ea typeface="Apple SD Gothic Neo"/>
                <a:cs typeface="Apple SD Gothic Neo"/>
              </a:rPr>
              <a:t>시트만 보면 다음 행동을 판단</a:t>
            </a:r>
          </a:p>
        </p:txBody>
      </p:sp>
    </p:spTree>
    <p:extLst>
      <p:ext uri="{BB962C8B-B14F-4D97-AF65-F5344CB8AC3E}">
        <p14:creationId xmlns:p14="http://schemas.microsoft.com/office/powerpoint/2010/main" val="6585550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chrome-6">
            <a:extLst xmlns:a="http://schemas.openxmlformats.org/drawingml/2006/main">
              <a:ext uri="{FF2B5EF4-FFF2-40B4-BE49-F238E27FC236}">
                <a16:creationId xmlns:a16="http://schemas.microsoft.com/office/drawing/2014/main" id="{AD080021-7D7D-46D6-865D-CD5F59D9DFD9}"/>
              </a:ext>
            </a:extLst>
          </p:cNvPr>
          <p:cNvSpPr>
            <a:spLocks xmlns:a="http://schemas.openxmlformats.org/drawingml/2006/main" noGrp="1"/>
          </p:cNvSpPr>
          <p:nvPr/>
        </p:nvSpPr>
        <p:spPr>
          <a:xfrm xmlns:a="http://schemas.openxmlformats.org/drawingml/2006/main">
            <a:off x="495300" y="2857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687779"/>
                </a:solidFill>
                <a:latin typeface="Apple SD Gothic Neo"/>
                <a:ea typeface="Apple SD Gothic Neo"/>
                <a:cs typeface="Apple SD Gothic Neo"/>
              </a:defRPr>
            </a:pPr>
            <a:r>
              <a:rPr sz="975" b="1">
                <a:solidFill>
                  <a:srgbClr val="687779"/>
                </a:solidFill>
                <a:latin typeface="Apple SD Gothic Neo"/>
                <a:ea typeface="Apple SD Gothic Neo"/>
                <a:cs typeface="Apple SD Gothic Neo"/>
              </a:rPr>
              <a:t>ITERATION · OBSERVE TO ADOPT</a:t>
            </a:r>
          </a:p>
        </p:txBody>
      </p:sp>
      <p:sp>
        <p:nvSpPr>
          <p:cNvPr id="2" name="page-6">
            <a:extLst xmlns:a="http://schemas.openxmlformats.org/drawingml/2006/main">
              <a:ext uri="{FF2B5EF4-FFF2-40B4-BE49-F238E27FC236}">
                <a16:creationId xmlns:a16="http://schemas.microsoft.com/office/drawing/2014/main" id="{48F88E8E-8F8E-4A8A-80AC-019FFF1BCEE3}"/>
              </a:ext>
            </a:extLst>
          </p:cNvPr>
          <p:cNvSpPr>
            <a:spLocks xmlns:a="http://schemas.openxmlformats.org/drawingml/2006/main" noGrp="1"/>
          </p:cNvSpPr>
          <p:nvPr/>
        </p:nvSpPr>
        <p:spPr>
          <a:xfrm xmlns:a="http://schemas.openxmlformats.org/drawingml/2006/main">
            <a:off x="11334750" y="6419850"/>
            <a:ext cx="3238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687779"/>
                </a:solidFill>
                <a:latin typeface="Apple SD Gothic Neo"/>
                <a:ea typeface="Apple SD Gothic Neo"/>
                <a:cs typeface="Apple SD Gothic Neo"/>
              </a:defRPr>
            </a:pPr>
            <a:r>
              <a:rPr sz="900" b="1">
                <a:solidFill>
                  <a:srgbClr val="687779"/>
                </a:solidFill>
                <a:latin typeface="Apple SD Gothic Neo"/>
                <a:ea typeface="Apple SD Gothic Neo"/>
                <a:cs typeface="Apple SD Gothic Neo"/>
              </a:rPr>
              <a:t>06</a:t>
            </a:r>
          </a:p>
        </p:txBody>
      </p:sp>
      <p:sp>
        <p:nvSpPr>
          <p:cNvPr id="3" name="title">
            <a:extLst xmlns:a="http://schemas.openxmlformats.org/drawingml/2006/main">
              <a:ext uri="{FF2B5EF4-FFF2-40B4-BE49-F238E27FC236}">
                <a16:creationId xmlns:a16="http://schemas.microsoft.com/office/drawing/2014/main" id="{A8B8B07D-07B9-4759-8217-5EF5E2630752}"/>
              </a:ext>
            </a:extLst>
          </p:cNvPr>
          <p:cNvSpPr>
            <a:spLocks xmlns:a="http://schemas.openxmlformats.org/drawingml/2006/main" noGrp="1"/>
          </p:cNvSpPr>
          <p:nvPr/>
        </p:nvSpPr>
        <p:spPr>
          <a:xfrm xmlns:a="http://schemas.openxmlformats.org/drawingml/2006/main">
            <a:off x="495300" y="685800"/>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7363C"/>
                </a:solidFill>
                <a:latin typeface="Apple SD Gothic Neo"/>
                <a:ea typeface="Apple SD Gothic Neo"/>
                <a:cs typeface="Apple SD Gothic Neo"/>
              </a:defRPr>
            </a:pPr>
            <a:r>
              <a:rPr sz="2850" b="1">
                <a:solidFill>
                  <a:srgbClr val="17363C"/>
                </a:solidFill>
                <a:latin typeface="Apple SD Gothic Neo"/>
                <a:ea typeface="Apple SD Gothic Neo"/>
                <a:cs typeface="Apple SD Gothic Neo"/>
              </a:rPr>
              <a:t>기능보다 먼저 업무를 관찰하고, 사용자의 부담까지 확인했습니다</a:t>
            </a:r>
          </a:p>
        </p:txBody>
      </p:sp>
      <p:cxnSp>
        <p:nvCxnSpPr>
          <p:cNvPr id="35" name=""/>
          <p:cNvCxnSpPr/>
          <p:nvPr/>
        </p:nvCxnSpPr>
        <p:spPr>
          <a:xfrm xmlns:a="http://schemas.openxmlformats.org/drawingml/2006/main">
            <a:off x="838200" y="2781300"/>
            <a:ext cx="10287000" cy="0"/>
          </a:xfrm>
          <a:prstGeom xmlns:a="http://schemas.openxmlformats.org/drawingml/2006/main" prst="straightConnector1">
            <a:avLst/>
          </a:prstGeom>
          <a:ln xmlns:a="http://schemas.openxmlformats.org/drawingml/2006/main" w="28575">
            <a:solidFill>
              <a:srgbClr val="CCD6D1"/>
            </a:solidFill>
            <a:prstDash val="solid"/>
          </a:ln>
        </p:spPr>
      </p:cxnSp>
      <p:sp>
        <p:nvSpPr>
          <p:cNvPr id="5" name="node-0">
            <a:extLst xmlns:a="http://schemas.openxmlformats.org/drawingml/2006/main">
              <a:ext uri="{FF2B5EF4-FFF2-40B4-BE49-F238E27FC236}">
                <a16:creationId xmlns:a16="http://schemas.microsoft.com/office/drawing/2014/main" id="{DF9A761D-AE15-416D-BAEE-0A4670BA6DCC}"/>
              </a:ext>
            </a:extLst>
          </p:cNvPr>
          <p:cNvSpPr>
            <a:spLocks xmlns:a="http://schemas.openxmlformats.org/drawingml/2006/main" noGrp="1"/>
          </p:cNvSpPr>
          <p:nvPr/>
        </p:nvSpPr>
        <p:spPr>
          <a:xfrm xmlns:a="http://schemas.openxmlformats.org/drawingml/2006/main">
            <a:off x="704850" y="2609850"/>
            <a:ext cx="171450" cy="171450"/>
          </a:xfrm>
          <a:prstGeom xmlns:a="http://schemas.openxmlformats.org/drawingml/2006/main" prst="roundRect">
            <a:avLst>
              <a:gd name="adj" fmla="val 50000"/>
            </a:avLst>
          </a:prstGeom>
          <a:solidFill xmlns:a="http://schemas.openxmlformats.org/drawingml/2006/main">
            <a:srgbClr val="87B978"/>
          </a:solidFill>
          <a:ln xmlns:a="http://schemas.openxmlformats.org/drawingml/2006/main" w="0">
            <a:noFill/>
            <a:prstDash val="solid"/>
          </a:ln>
        </p:spPr>
      </p:sp>
      <p:sp>
        <p:nvSpPr>
          <p:cNvPr id="6" name="step-0">
            <a:extLst xmlns:a="http://schemas.openxmlformats.org/drawingml/2006/main">
              <a:ext uri="{FF2B5EF4-FFF2-40B4-BE49-F238E27FC236}">
                <a16:creationId xmlns:a16="http://schemas.microsoft.com/office/drawing/2014/main" id="{262A894F-DE7C-4D22-912C-73A20A63185F}"/>
              </a:ext>
            </a:extLst>
          </p:cNvPr>
          <p:cNvSpPr>
            <a:spLocks xmlns:a="http://schemas.openxmlformats.org/drawingml/2006/main" noGrp="1"/>
          </p:cNvSpPr>
          <p:nvPr/>
        </p:nvSpPr>
        <p:spPr>
          <a:xfrm xmlns:a="http://schemas.openxmlformats.org/drawingml/2006/main">
            <a:off x="495300" y="2000250"/>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87B978"/>
                </a:solidFill>
                <a:latin typeface="Apple SD Gothic Neo"/>
                <a:ea typeface="Apple SD Gothic Neo"/>
                <a:cs typeface="Apple SD Gothic Neo"/>
              </a:defRPr>
            </a:pPr>
            <a:r>
              <a:rPr sz="975" b="1">
                <a:solidFill>
                  <a:srgbClr val="87B978"/>
                </a:solidFill>
                <a:latin typeface="Apple SD Gothic Neo"/>
                <a:ea typeface="Apple SD Gothic Neo"/>
                <a:cs typeface="Apple SD Gothic Neo"/>
              </a:rPr>
              <a:t>OBSERVE</a:t>
            </a:r>
          </a:p>
        </p:txBody>
      </p:sp>
      <p:sp>
        <p:nvSpPr>
          <p:cNvPr id="7" name="step-title-0">
            <a:extLst xmlns:a="http://schemas.openxmlformats.org/drawingml/2006/main">
              <a:ext uri="{FF2B5EF4-FFF2-40B4-BE49-F238E27FC236}">
                <a16:creationId xmlns:a16="http://schemas.microsoft.com/office/drawing/2014/main" id="{864BB927-AA89-4F10-9B0E-1C617BBB5608}"/>
              </a:ext>
            </a:extLst>
          </p:cNvPr>
          <p:cNvSpPr>
            <a:spLocks xmlns:a="http://schemas.openxmlformats.org/drawingml/2006/main" noGrp="1"/>
          </p:cNvSpPr>
          <p:nvPr/>
        </p:nvSpPr>
        <p:spPr>
          <a:xfrm xmlns:a="http://schemas.openxmlformats.org/drawingml/2006/main">
            <a:off x="495300" y="3105150"/>
            <a:ext cx="1952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7363C"/>
                </a:solidFill>
                <a:latin typeface="Apple SD Gothic Neo"/>
                <a:ea typeface="Apple SD Gothic Neo"/>
                <a:cs typeface="Apple SD Gothic Neo"/>
              </a:defRPr>
            </a:pPr>
            <a:r>
              <a:rPr sz="1500" b="1">
                <a:solidFill>
                  <a:srgbClr val="17363C"/>
                </a:solidFill>
                <a:latin typeface="Apple SD Gothic Neo"/>
                <a:ea typeface="Apple SD Gothic Neo"/>
                <a:cs typeface="Apple SD Gothic Neo"/>
              </a:rPr>
              <a:t>업무 한 사이클 관찰</a:t>
            </a:r>
          </a:p>
        </p:txBody>
      </p:sp>
      <p:sp>
        <p:nvSpPr>
          <p:cNvPr id="8" name="step-desc-0">
            <a:extLst xmlns:a="http://schemas.openxmlformats.org/drawingml/2006/main">
              <a:ext uri="{FF2B5EF4-FFF2-40B4-BE49-F238E27FC236}">
                <a16:creationId xmlns:a16="http://schemas.microsoft.com/office/drawing/2014/main" id="{4AE7B116-B214-4ADA-BF65-1170982CA2D8}"/>
              </a:ext>
            </a:extLst>
          </p:cNvPr>
          <p:cNvSpPr>
            <a:spLocks xmlns:a="http://schemas.openxmlformats.org/drawingml/2006/main" noGrp="1"/>
          </p:cNvSpPr>
          <p:nvPr/>
        </p:nvSpPr>
        <p:spPr>
          <a:xfrm xmlns:a="http://schemas.openxmlformats.org/drawingml/2006/main">
            <a:off x="495300" y="3648075"/>
            <a:ext cx="1952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687779"/>
                </a:solidFill>
                <a:latin typeface="Apple SD Gothic Neo"/>
                <a:ea typeface="Apple SD Gothic Neo"/>
                <a:cs typeface="Apple SD Gothic Neo"/>
              </a:defRPr>
            </a:pPr>
            <a:r>
              <a:rPr sz="1275" b="0">
                <a:solidFill>
                  <a:srgbClr val="687779"/>
                </a:solidFill>
                <a:latin typeface="Apple SD Gothic Neo"/>
                <a:ea typeface="Apple SD Gothic Neo"/>
                <a:cs typeface="Apple SD Gothic Neo"/>
              </a:rPr>
              <a:t>누가 언제 무엇을 확인하는지</a:t>
            </a:r>
          </a:p>
        </p:txBody>
      </p:sp>
      <p:sp>
        <p:nvSpPr>
          <p:cNvPr id="9" name="node-1">
            <a:extLst xmlns:a="http://schemas.openxmlformats.org/drawingml/2006/main">
              <a:ext uri="{FF2B5EF4-FFF2-40B4-BE49-F238E27FC236}">
                <a16:creationId xmlns:a16="http://schemas.microsoft.com/office/drawing/2014/main" id="{744BA19B-B802-47F8-A0AB-53477057FFAE}"/>
              </a:ext>
            </a:extLst>
          </p:cNvPr>
          <p:cNvSpPr>
            <a:spLocks xmlns:a="http://schemas.openxmlformats.org/drawingml/2006/main" noGrp="1"/>
          </p:cNvSpPr>
          <p:nvPr/>
        </p:nvSpPr>
        <p:spPr>
          <a:xfrm xmlns:a="http://schemas.openxmlformats.org/drawingml/2006/main">
            <a:off x="3009900" y="2609850"/>
            <a:ext cx="171450" cy="171450"/>
          </a:xfrm>
          <a:prstGeom xmlns:a="http://schemas.openxmlformats.org/drawingml/2006/main" prst="roundRect">
            <a:avLst>
              <a:gd name="adj" fmla="val 50000"/>
            </a:avLst>
          </a:prstGeom>
          <a:solidFill xmlns:a="http://schemas.openxmlformats.org/drawingml/2006/main">
            <a:srgbClr val="87B978"/>
          </a:solidFill>
          <a:ln xmlns:a="http://schemas.openxmlformats.org/drawingml/2006/main" w="0">
            <a:noFill/>
            <a:prstDash val="solid"/>
          </a:ln>
        </p:spPr>
      </p:sp>
      <p:sp>
        <p:nvSpPr>
          <p:cNvPr id="10" name="step-1">
            <a:extLst xmlns:a="http://schemas.openxmlformats.org/drawingml/2006/main">
              <a:ext uri="{FF2B5EF4-FFF2-40B4-BE49-F238E27FC236}">
                <a16:creationId xmlns:a16="http://schemas.microsoft.com/office/drawing/2014/main" id="{1CE7CE98-F148-4B08-880E-557DFC1D1CB5}"/>
              </a:ext>
            </a:extLst>
          </p:cNvPr>
          <p:cNvSpPr>
            <a:spLocks xmlns:a="http://schemas.openxmlformats.org/drawingml/2006/main" noGrp="1"/>
          </p:cNvSpPr>
          <p:nvPr/>
        </p:nvSpPr>
        <p:spPr>
          <a:xfrm xmlns:a="http://schemas.openxmlformats.org/drawingml/2006/main">
            <a:off x="2800350" y="2000250"/>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87B978"/>
                </a:solidFill>
                <a:latin typeface="Apple SD Gothic Neo"/>
                <a:ea typeface="Apple SD Gothic Neo"/>
                <a:cs typeface="Apple SD Gothic Neo"/>
              </a:defRPr>
            </a:pPr>
            <a:r>
              <a:rPr sz="975" b="1">
                <a:solidFill>
                  <a:srgbClr val="87B978"/>
                </a:solidFill>
                <a:latin typeface="Apple SD Gothic Neo"/>
                <a:ea typeface="Apple SD Gothic Neo"/>
                <a:cs typeface="Apple SD Gothic Neo"/>
              </a:rPr>
              <a:t>DEFINE</a:t>
            </a:r>
          </a:p>
        </p:txBody>
      </p:sp>
      <p:sp>
        <p:nvSpPr>
          <p:cNvPr id="11" name="step-title-1">
            <a:extLst xmlns:a="http://schemas.openxmlformats.org/drawingml/2006/main">
              <a:ext uri="{FF2B5EF4-FFF2-40B4-BE49-F238E27FC236}">
                <a16:creationId xmlns:a16="http://schemas.microsoft.com/office/drawing/2014/main" id="{74D455A0-C7D6-44E0-ADC3-AA01FC2FEBA6}"/>
              </a:ext>
            </a:extLst>
          </p:cNvPr>
          <p:cNvSpPr>
            <a:spLocks xmlns:a="http://schemas.openxmlformats.org/drawingml/2006/main" noGrp="1"/>
          </p:cNvSpPr>
          <p:nvPr/>
        </p:nvSpPr>
        <p:spPr>
          <a:xfrm xmlns:a="http://schemas.openxmlformats.org/drawingml/2006/main">
            <a:off x="2800350" y="3105150"/>
            <a:ext cx="1952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7363C"/>
                </a:solidFill>
                <a:latin typeface="Apple SD Gothic Neo"/>
                <a:ea typeface="Apple SD Gothic Neo"/>
                <a:cs typeface="Apple SD Gothic Neo"/>
              </a:defRPr>
            </a:pPr>
            <a:r>
              <a:rPr sz="1500" b="1">
                <a:solidFill>
                  <a:srgbClr val="17363C"/>
                </a:solidFill>
                <a:latin typeface="Apple SD Gothic Neo"/>
                <a:ea typeface="Apple SD Gothic Neo"/>
                <a:cs typeface="Apple SD Gothic Neo"/>
              </a:rPr>
              <a:t>병목·누락 정의</a:t>
            </a:r>
          </a:p>
        </p:txBody>
      </p:sp>
      <p:sp>
        <p:nvSpPr>
          <p:cNvPr id="12" name="step-desc-1">
            <a:extLst xmlns:a="http://schemas.openxmlformats.org/drawingml/2006/main">
              <a:ext uri="{FF2B5EF4-FFF2-40B4-BE49-F238E27FC236}">
                <a16:creationId xmlns:a16="http://schemas.microsoft.com/office/drawing/2014/main" id="{4C621316-C62D-40CA-8505-4B3871E118D0}"/>
              </a:ext>
            </a:extLst>
          </p:cNvPr>
          <p:cNvSpPr>
            <a:spLocks xmlns:a="http://schemas.openxmlformats.org/drawingml/2006/main" noGrp="1"/>
          </p:cNvSpPr>
          <p:nvPr/>
        </p:nvSpPr>
        <p:spPr>
          <a:xfrm xmlns:a="http://schemas.openxmlformats.org/drawingml/2006/main">
            <a:off x="2800350" y="3648075"/>
            <a:ext cx="1952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687779"/>
                </a:solidFill>
                <a:latin typeface="Apple SD Gothic Neo"/>
                <a:ea typeface="Apple SD Gothic Neo"/>
                <a:cs typeface="Apple SD Gothic Neo"/>
              </a:defRPr>
            </a:pPr>
            <a:r>
              <a:rPr sz="1275" b="0">
                <a:solidFill>
                  <a:srgbClr val="687779"/>
                </a:solidFill>
                <a:latin typeface="Apple SD Gothic Neo"/>
                <a:ea typeface="Apple SD Gothic Neo"/>
                <a:cs typeface="Apple SD Gothic Neo"/>
              </a:rPr>
              <a:t>현재 위치·담당자·시간 문제</a:t>
            </a:r>
          </a:p>
        </p:txBody>
      </p:sp>
      <p:sp>
        <p:nvSpPr>
          <p:cNvPr id="13" name="node-2">
            <a:extLst xmlns:a="http://schemas.openxmlformats.org/drawingml/2006/main">
              <a:ext uri="{FF2B5EF4-FFF2-40B4-BE49-F238E27FC236}">
                <a16:creationId xmlns:a16="http://schemas.microsoft.com/office/drawing/2014/main" id="{CD14D95E-3D0B-4076-874A-7FB10A889892}"/>
              </a:ext>
            </a:extLst>
          </p:cNvPr>
          <p:cNvSpPr>
            <a:spLocks xmlns:a="http://schemas.openxmlformats.org/drawingml/2006/main" noGrp="1"/>
          </p:cNvSpPr>
          <p:nvPr/>
        </p:nvSpPr>
        <p:spPr>
          <a:xfrm xmlns:a="http://schemas.openxmlformats.org/drawingml/2006/main">
            <a:off x="5314950" y="2609850"/>
            <a:ext cx="171450" cy="171450"/>
          </a:xfrm>
          <a:prstGeom xmlns:a="http://schemas.openxmlformats.org/drawingml/2006/main" prst="roundRect">
            <a:avLst>
              <a:gd name="adj" fmla="val 50000"/>
            </a:avLst>
          </a:prstGeom>
          <a:solidFill xmlns:a="http://schemas.openxmlformats.org/drawingml/2006/main">
            <a:srgbClr val="87B978"/>
          </a:solidFill>
          <a:ln xmlns:a="http://schemas.openxmlformats.org/drawingml/2006/main" w="0">
            <a:noFill/>
            <a:prstDash val="solid"/>
          </a:ln>
        </p:spPr>
      </p:sp>
      <p:sp>
        <p:nvSpPr>
          <p:cNvPr id="14" name="step-2">
            <a:extLst xmlns:a="http://schemas.openxmlformats.org/drawingml/2006/main">
              <a:ext uri="{FF2B5EF4-FFF2-40B4-BE49-F238E27FC236}">
                <a16:creationId xmlns:a16="http://schemas.microsoft.com/office/drawing/2014/main" id="{55324106-8EC3-42B5-AF56-06DF0117EA74}"/>
              </a:ext>
            </a:extLst>
          </p:cNvPr>
          <p:cNvSpPr>
            <a:spLocks xmlns:a="http://schemas.openxmlformats.org/drawingml/2006/main" noGrp="1"/>
          </p:cNvSpPr>
          <p:nvPr/>
        </p:nvSpPr>
        <p:spPr>
          <a:xfrm xmlns:a="http://schemas.openxmlformats.org/drawingml/2006/main">
            <a:off x="5105400" y="2000250"/>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87B978"/>
                </a:solidFill>
                <a:latin typeface="Apple SD Gothic Neo"/>
                <a:ea typeface="Apple SD Gothic Neo"/>
                <a:cs typeface="Apple SD Gothic Neo"/>
              </a:defRPr>
            </a:pPr>
            <a:r>
              <a:rPr sz="975" b="1">
                <a:solidFill>
                  <a:srgbClr val="87B978"/>
                </a:solidFill>
                <a:latin typeface="Apple SD Gothic Neo"/>
                <a:ea typeface="Apple SD Gothic Neo"/>
                <a:cs typeface="Apple SD Gothic Neo"/>
              </a:rPr>
              <a:t>DESIGN</a:t>
            </a:r>
          </a:p>
        </p:txBody>
      </p:sp>
      <p:sp>
        <p:nvSpPr>
          <p:cNvPr id="15" name="step-title-2">
            <a:extLst xmlns:a="http://schemas.openxmlformats.org/drawingml/2006/main">
              <a:ext uri="{FF2B5EF4-FFF2-40B4-BE49-F238E27FC236}">
                <a16:creationId xmlns:a16="http://schemas.microsoft.com/office/drawing/2014/main" id="{197C6F98-75E7-4BF3-BCD8-4B63696A0380}"/>
              </a:ext>
            </a:extLst>
          </p:cNvPr>
          <p:cNvSpPr>
            <a:spLocks xmlns:a="http://schemas.openxmlformats.org/drawingml/2006/main" noGrp="1"/>
          </p:cNvSpPr>
          <p:nvPr/>
        </p:nvSpPr>
        <p:spPr>
          <a:xfrm xmlns:a="http://schemas.openxmlformats.org/drawingml/2006/main">
            <a:off x="5105400" y="3105150"/>
            <a:ext cx="1952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7363C"/>
                </a:solidFill>
                <a:latin typeface="Apple SD Gothic Neo"/>
                <a:ea typeface="Apple SD Gothic Neo"/>
                <a:cs typeface="Apple SD Gothic Neo"/>
              </a:defRPr>
            </a:pPr>
            <a:r>
              <a:rPr sz="1500" b="1">
                <a:solidFill>
                  <a:srgbClr val="17363C"/>
                </a:solidFill>
                <a:latin typeface="Apple SD Gothic Neo"/>
                <a:ea typeface="Apple SD Gothic Neo"/>
                <a:cs typeface="Apple SD Gothic Neo"/>
              </a:rPr>
              <a:t>정보 구조 재배치</a:t>
            </a:r>
          </a:p>
        </p:txBody>
      </p:sp>
      <p:sp>
        <p:nvSpPr>
          <p:cNvPr id="16" name="step-desc-2">
            <a:extLst xmlns:a="http://schemas.openxmlformats.org/drawingml/2006/main">
              <a:ext uri="{FF2B5EF4-FFF2-40B4-BE49-F238E27FC236}">
                <a16:creationId xmlns:a16="http://schemas.microsoft.com/office/drawing/2014/main" id="{C09837DD-AC89-4EEA-B057-D8C258C86559}"/>
              </a:ext>
            </a:extLst>
          </p:cNvPr>
          <p:cNvSpPr>
            <a:spLocks xmlns:a="http://schemas.openxmlformats.org/drawingml/2006/main" noGrp="1"/>
          </p:cNvSpPr>
          <p:nvPr/>
        </p:nvSpPr>
        <p:spPr>
          <a:xfrm xmlns:a="http://schemas.openxmlformats.org/drawingml/2006/main">
            <a:off x="5105400" y="3648075"/>
            <a:ext cx="1952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687779"/>
                </a:solidFill>
                <a:latin typeface="Apple SD Gothic Neo"/>
                <a:ea typeface="Apple SD Gothic Neo"/>
                <a:cs typeface="Apple SD Gothic Neo"/>
              </a:defRPr>
            </a:pPr>
            <a:r>
              <a:rPr sz="1275" b="0">
                <a:solidFill>
                  <a:srgbClr val="687779"/>
                </a:solidFill>
                <a:latin typeface="Apple SD Gothic Neo"/>
                <a:ea typeface="Apple SD Gothic Neo"/>
                <a:cs typeface="Apple SD Gothic Neo"/>
              </a:rPr>
              <a:t>같은 고객과 진행 단계를 시각화</a:t>
            </a:r>
          </a:p>
        </p:txBody>
      </p:sp>
      <p:sp>
        <p:nvSpPr>
          <p:cNvPr id="17" name="node-3">
            <a:extLst xmlns:a="http://schemas.openxmlformats.org/drawingml/2006/main">
              <a:ext uri="{FF2B5EF4-FFF2-40B4-BE49-F238E27FC236}">
                <a16:creationId xmlns:a16="http://schemas.microsoft.com/office/drawing/2014/main" id="{7FC4EBC2-1A56-4D8C-8517-5CFA91FD6D1A}"/>
              </a:ext>
            </a:extLst>
          </p:cNvPr>
          <p:cNvSpPr>
            <a:spLocks xmlns:a="http://schemas.openxmlformats.org/drawingml/2006/main" noGrp="1"/>
          </p:cNvSpPr>
          <p:nvPr/>
        </p:nvSpPr>
        <p:spPr>
          <a:xfrm xmlns:a="http://schemas.openxmlformats.org/drawingml/2006/main">
            <a:off x="7620000" y="2609850"/>
            <a:ext cx="171450" cy="171450"/>
          </a:xfrm>
          <a:prstGeom xmlns:a="http://schemas.openxmlformats.org/drawingml/2006/main" prst="roundRect">
            <a:avLst>
              <a:gd name="adj" fmla="val 50000"/>
            </a:avLst>
          </a:prstGeom>
          <a:solidFill xmlns:a="http://schemas.openxmlformats.org/drawingml/2006/main">
            <a:srgbClr val="87B978"/>
          </a:solidFill>
          <a:ln xmlns:a="http://schemas.openxmlformats.org/drawingml/2006/main" w="0">
            <a:noFill/>
            <a:prstDash val="solid"/>
          </a:ln>
        </p:spPr>
      </p:sp>
      <p:sp>
        <p:nvSpPr>
          <p:cNvPr id="18" name="step-3">
            <a:extLst xmlns:a="http://schemas.openxmlformats.org/drawingml/2006/main">
              <a:ext uri="{FF2B5EF4-FFF2-40B4-BE49-F238E27FC236}">
                <a16:creationId xmlns:a16="http://schemas.microsoft.com/office/drawing/2014/main" id="{380F9ED6-B4EA-4323-A50D-77A00BDC565C}"/>
              </a:ext>
            </a:extLst>
          </p:cNvPr>
          <p:cNvSpPr>
            <a:spLocks xmlns:a="http://schemas.openxmlformats.org/drawingml/2006/main" noGrp="1"/>
          </p:cNvSpPr>
          <p:nvPr/>
        </p:nvSpPr>
        <p:spPr>
          <a:xfrm xmlns:a="http://schemas.openxmlformats.org/drawingml/2006/main">
            <a:off x="7410450" y="2000250"/>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87B978"/>
                </a:solidFill>
                <a:latin typeface="Apple SD Gothic Neo"/>
                <a:ea typeface="Apple SD Gothic Neo"/>
                <a:cs typeface="Apple SD Gothic Neo"/>
              </a:defRPr>
            </a:pPr>
            <a:r>
              <a:rPr sz="975" b="1">
                <a:solidFill>
                  <a:srgbClr val="87B978"/>
                </a:solidFill>
                <a:latin typeface="Apple SD Gothic Neo"/>
                <a:ea typeface="Apple SD Gothic Neo"/>
                <a:cs typeface="Apple SD Gothic Neo"/>
              </a:rPr>
              <a:t>BUILD</a:t>
            </a:r>
          </a:p>
        </p:txBody>
      </p:sp>
      <p:sp>
        <p:nvSpPr>
          <p:cNvPr id="19" name="step-title-3">
            <a:extLst xmlns:a="http://schemas.openxmlformats.org/drawingml/2006/main">
              <a:ext uri="{FF2B5EF4-FFF2-40B4-BE49-F238E27FC236}">
                <a16:creationId xmlns:a16="http://schemas.microsoft.com/office/drawing/2014/main" id="{CD3D4A49-7015-455A-98DC-E3657CFFA5DB}"/>
              </a:ext>
            </a:extLst>
          </p:cNvPr>
          <p:cNvSpPr>
            <a:spLocks xmlns:a="http://schemas.openxmlformats.org/drawingml/2006/main" noGrp="1"/>
          </p:cNvSpPr>
          <p:nvPr/>
        </p:nvSpPr>
        <p:spPr>
          <a:xfrm xmlns:a="http://schemas.openxmlformats.org/drawingml/2006/main">
            <a:off x="7410450" y="3105150"/>
            <a:ext cx="1952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7363C"/>
                </a:solidFill>
                <a:latin typeface="Apple SD Gothic Neo"/>
                <a:ea typeface="Apple SD Gothic Neo"/>
                <a:cs typeface="Apple SD Gothic Neo"/>
              </a:defRPr>
            </a:pPr>
            <a:r>
              <a:rPr sz="1500" b="1">
                <a:solidFill>
                  <a:srgbClr val="17363C"/>
                </a:solidFill>
                <a:latin typeface="Apple SD Gothic Neo"/>
                <a:ea typeface="Apple SD Gothic Neo"/>
                <a:cs typeface="Apple SD Gothic Neo"/>
              </a:rPr>
              <a:t>자동화 기능 구현</a:t>
            </a:r>
          </a:p>
        </p:txBody>
      </p:sp>
      <p:sp>
        <p:nvSpPr>
          <p:cNvPr id="20" name="step-desc-3">
            <a:extLst xmlns:a="http://schemas.openxmlformats.org/drawingml/2006/main">
              <a:ext uri="{FF2B5EF4-FFF2-40B4-BE49-F238E27FC236}">
                <a16:creationId xmlns:a16="http://schemas.microsoft.com/office/drawing/2014/main" id="{0187053C-1CE6-4D3F-9A6D-0DFD4E9BD0AA}"/>
              </a:ext>
            </a:extLst>
          </p:cNvPr>
          <p:cNvSpPr>
            <a:spLocks xmlns:a="http://schemas.openxmlformats.org/drawingml/2006/main" noGrp="1"/>
          </p:cNvSpPr>
          <p:nvPr/>
        </p:nvSpPr>
        <p:spPr>
          <a:xfrm xmlns:a="http://schemas.openxmlformats.org/drawingml/2006/main">
            <a:off x="7410450" y="3648075"/>
            <a:ext cx="1952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687779"/>
                </a:solidFill>
                <a:latin typeface="Apple SD Gothic Neo"/>
                <a:ea typeface="Apple SD Gothic Neo"/>
                <a:cs typeface="Apple SD Gothic Neo"/>
              </a:defRPr>
            </a:pPr>
            <a:r>
              <a:rPr sz="1275" b="0">
                <a:solidFill>
                  <a:srgbClr val="687779"/>
                </a:solidFill>
                <a:latin typeface="Apple SD Gothic Neo"/>
                <a:ea typeface="Apple SD Gothic Neo"/>
                <a:cs typeface="Apple SD Gothic Neo"/>
              </a:rPr>
              <a:t>시간·예정·경고·예외 수정</a:t>
            </a:r>
          </a:p>
        </p:txBody>
      </p:sp>
      <p:sp>
        <p:nvSpPr>
          <p:cNvPr id="21" name="node-4">
            <a:extLst xmlns:a="http://schemas.openxmlformats.org/drawingml/2006/main">
              <a:ext uri="{FF2B5EF4-FFF2-40B4-BE49-F238E27FC236}">
                <a16:creationId xmlns:a16="http://schemas.microsoft.com/office/drawing/2014/main" id="{65E66B8A-7059-44BA-9399-C4760A6552F9}"/>
              </a:ext>
            </a:extLst>
          </p:cNvPr>
          <p:cNvSpPr>
            <a:spLocks xmlns:a="http://schemas.openxmlformats.org/drawingml/2006/main" noGrp="1"/>
          </p:cNvSpPr>
          <p:nvPr/>
        </p:nvSpPr>
        <p:spPr>
          <a:xfrm xmlns:a="http://schemas.openxmlformats.org/drawingml/2006/main">
            <a:off x="9925050" y="2609850"/>
            <a:ext cx="171450" cy="171450"/>
          </a:xfrm>
          <a:prstGeom xmlns:a="http://schemas.openxmlformats.org/drawingml/2006/main" prst="roundRect">
            <a:avLst>
              <a:gd name="adj" fmla="val 50000"/>
            </a:avLst>
          </a:prstGeom>
          <a:solidFill xmlns:a="http://schemas.openxmlformats.org/drawingml/2006/main">
            <a:srgbClr val="E6A05B"/>
          </a:solidFill>
          <a:ln xmlns:a="http://schemas.openxmlformats.org/drawingml/2006/main" w="0">
            <a:noFill/>
            <a:prstDash val="solid"/>
          </a:ln>
        </p:spPr>
      </p:sp>
      <p:sp>
        <p:nvSpPr>
          <p:cNvPr id="22" name="step-4">
            <a:extLst xmlns:a="http://schemas.openxmlformats.org/drawingml/2006/main">
              <a:ext uri="{FF2B5EF4-FFF2-40B4-BE49-F238E27FC236}">
                <a16:creationId xmlns:a16="http://schemas.microsoft.com/office/drawing/2014/main" id="{9C5485C4-EA73-4C57-8CC8-E4D8D8D52C3E}"/>
              </a:ext>
            </a:extLst>
          </p:cNvPr>
          <p:cNvSpPr>
            <a:spLocks xmlns:a="http://schemas.openxmlformats.org/drawingml/2006/main" noGrp="1"/>
          </p:cNvSpPr>
          <p:nvPr/>
        </p:nvSpPr>
        <p:spPr>
          <a:xfrm xmlns:a="http://schemas.openxmlformats.org/drawingml/2006/main">
            <a:off x="9715500" y="2000250"/>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6A05B"/>
                </a:solidFill>
                <a:latin typeface="Apple SD Gothic Neo"/>
                <a:ea typeface="Apple SD Gothic Neo"/>
                <a:cs typeface="Apple SD Gothic Neo"/>
              </a:defRPr>
            </a:pPr>
            <a:r>
              <a:rPr sz="975" b="1">
                <a:solidFill>
                  <a:srgbClr val="E6A05B"/>
                </a:solidFill>
                <a:latin typeface="Apple SD Gothic Neo"/>
                <a:ea typeface="Apple SD Gothic Neo"/>
                <a:cs typeface="Apple SD Gothic Neo"/>
              </a:rPr>
              <a:t>ADOPT</a:t>
            </a:r>
          </a:p>
        </p:txBody>
      </p:sp>
      <p:sp>
        <p:nvSpPr>
          <p:cNvPr id="23" name="step-title-4">
            <a:extLst xmlns:a="http://schemas.openxmlformats.org/drawingml/2006/main">
              <a:ext uri="{FF2B5EF4-FFF2-40B4-BE49-F238E27FC236}">
                <a16:creationId xmlns:a16="http://schemas.microsoft.com/office/drawing/2014/main" id="{3546C951-0158-46AA-9029-D407729341A0}"/>
              </a:ext>
            </a:extLst>
          </p:cNvPr>
          <p:cNvSpPr>
            <a:spLocks xmlns:a="http://schemas.openxmlformats.org/drawingml/2006/main" noGrp="1"/>
          </p:cNvSpPr>
          <p:nvPr/>
        </p:nvSpPr>
        <p:spPr>
          <a:xfrm xmlns:a="http://schemas.openxmlformats.org/drawingml/2006/main">
            <a:off x="9715500" y="3105150"/>
            <a:ext cx="1952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7363C"/>
                </a:solidFill>
                <a:latin typeface="Apple SD Gothic Neo"/>
                <a:ea typeface="Apple SD Gothic Neo"/>
                <a:cs typeface="Apple SD Gothic Neo"/>
              </a:defRPr>
            </a:pPr>
            <a:r>
              <a:rPr sz="1500" b="1">
                <a:solidFill>
                  <a:srgbClr val="17363C"/>
                </a:solidFill>
                <a:latin typeface="Apple SD Gothic Neo"/>
                <a:ea typeface="Apple SD Gothic Neo"/>
                <a:cs typeface="Apple SD Gothic Neo"/>
              </a:rPr>
              <a:t>도입 부담 확인</a:t>
            </a:r>
          </a:p>
        </p:txBody>
      </p:sp>
      <p:sp>
        <p:nvSpPr>
          <p:cNvPr id="24" name="step-desc-4">
            <a:extLst xmlns:a="http://schemas.openxmlformats.org/drawingml/2006/main">
              <a:ext uri="{FF2B5EF4-FFF2-40B4-BE49-F238E27FC236}">
                <a16:creationId xmlns:a16="http://schemas.microsoft.com/office/drawing/2014/main" id="{CE3AF3BD-662F-409E-B7B4-24030DE170D4}"/>
              </a:ext>
            </a:extLst>
          </p:cNvPr>
          <p:cNvSpPr>
            <a:spLocks xmlns:a="http://schemas.openxmlformats.org/drawingml/2006/main" noGrp="1"/>
          </p:cNvSpPr>
          <p:nvPr/>
        </p:nvSpPr>
        <p:spPr>
          <a:xfrm xmlns:a="http://schemas.openxmlformats.org/drawingml/2006/main">
            <a:off x="9715500" y="3648075"/>
            <a:ext cx="1952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687779"/>
                </a:solidFill>
                <a:latin typeface="Apple SD Gothic Neo"/>
                <a:ea typeface="Apple SD Gothic Neo"/>
                <a:cs typeface="Apple SD Gothic Neo"/>
              </a:defRPr>
            </a:pPr>
            <a:r>
              <a:rPr sz="1275" b="0">
                <a:solidFill>
                  <a:srgbClr val="687779"/>
                </a:solidFill>
                <a:latin typeface="Apple SD Gothic Neo"/>
                <a:ea typeface="Apple SD Gothic Neo"/>
                <a:cs typeface="Apple SD Gothic Neo"/>
              </a:rPr>
              <a:t>중복 입력과 사용 이유 설명</a:t>
            </a:r>
          </a:p>
        </p:txBody>
      </p:sp>
      <p:sp>
        <p:nvSpPr>
          <p:cNvPr id="25" name="result">
            <a:extLst xmlns:a="http://schemas.openxmlformats.org/drawingml/2006/main">
              <a:ext uri="{FF2B5EF4-FFF2-40B4-BE49-F238E27FC236}">
                <a16:creationId xmlns:a16="http://schemas.microsoft.com/office/drawing/2014/main" id="{AB71F81A-2EE7-4177-9195-D2EDB41F2C24}"/>
              </a:ext>
            </a:extLst>
          </p:cNvPr>
          <p:cNvSpPr>
            <a:spLocks xmlns:a="http://schemas.openxmlformats.org/drawingml/2006/main" noGrp="1"/>
          </p:cNvSpPr>
          <p:nvPr/>
        </p:nvSpPr>
        <p:spPr>
          <a:xfrm xmlns:a="http://schemas.openxmlformats.org/drawingml/2006/main">
            <a:off x="495300" y="4810125"/>
            <a:ext cx="5429250" cy="1257300"/>
          </a:xfrm>
          <a:prstGeom xmlns:a="http://schemas.openxmlformats.org/drawingml/2006/main" prst="roundRect">
            <a:avLst>
              <a:gd name="adj" fmla="val 12121"/>
            </a:avLst>
          </a:prstGeom>
          <a:solidFill xmlns:a="http://schemas.openxmlformats.org/drawingml/2006/main">
            <a:srgbClr val="DDECDD"/>
          </a:solidFill>
          <a:ln xmlns:a="http://schemas.openxmlformats.org/drawingml/2006/main" w="0">
            <a:noFill/>
            <a:prstDash val="solid"/>
          </a:ln>
        </p:spPr>
      </p:sp>
      <p:sp>
        <p:nvSpPr>
          <p:cNvPr id="26" name="result-label">
            <a:extLst xmlns:a="http://schemas.openxmlformats.org/drawingml/2006/main">
              <a:ext uri="{FF2B5EF4-FFF2-40B4-BE49-F238E27FC236}">
                <a16:creationId xmlns:a16="http://schemas.microsoft.com/office/drawing/2014/main" id="{7F20063C-3C10-4D51-9D53-208C2C8234D5}"/>
              </a:ext>
            </a:extLst>
          </p:cNvPr>
          <p:cNvSpPr>
            <a:spLocks xmlns:a="http://schemas.openxmlformats.org/drawingml/2006/main" noGrp="1"/>
          </p:cNvSpPr>
          <p:nvPr/>
        </p:nvSpPr>
        <p:spPr>
          <a:xfrm xmlns:a="http://schemas.openxmlformats.org/drawingml/2006/main">
            <a:off x="723900" y="503872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87B978"/>
                </a:solidFill>
                <a:latin typeface="Apple SD Gothic Neo"/>
                <a:ea typeface="Apple SD Gothic Neo"/>
                <a:cs typeface="Apple SD Gothic Neo"/>
              </a:defRPr>
            </a:pPr>
            <a:r>
              <a:rPr sz="975" b="1">
                <a:solidFill>
                  <a:srgbClr val="87B978"/>
                </a:solidFill>
                <a:latin typeface="Apple SD Gothic Neo"/>
                <a:ea typeface="Apple SD Gothic Neo"/>
                <a:cs typeface="Apple SD Gothic Neo"/>
              </a:rPr>
              <a:t>FIELD OBSERVATION</a:t>
            </a:r>
          </a:p>
        </p:txBody>
      </p:sp>
      <p:sp>
        <p:nvSpPr>
          <p:cNvPr id="27" name="result-main">
            <a:extLst xmlns:a="http://schemas.openxmlformats.org/drawingml/2006/main">
              <a:ext uri="{FF2B5EF4-FFF2-40B4-BE49-F238E27FC236}">
                <a16:creationId xmlns:a16="http://schemas.microsoft.com/office/drawing/2014/main" id="{BCCDB25C-C306-40EF-8A97-785AB967CD01}"/>
              </a:ext>
            </a:extLst>
          </p:cNvPr>
          <p:cNvSpPr>
            <a:spLocks xmlns:a="http://schemas.openxmlformats.org/drawingml/2006/main" noGrp="1"/>
          </p:cNvSpPr>
          <p:nvPr/>
        </p:nvSpPr>
        <p:spPr>
          <a:xfrm xmlns:a="http://schemas.openxmlformats.org/drawingml/2006/main">
            <a:off x="723900" y="53435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75" b="1">
                <a:solidFill>
                  <a:srgbClr val="17363C"/>
                </a:solidFill>
                <a:latin typeface="Apple SD Gothic Neo"/>
                <a:ea typeface="Apple SD Gothic Neo"/>
                <a:cs typeface="Apple SD Gothic Neo"/>
              </a:defRPr>
            </a:pPr>
            <a:r>
              <a:rPr sz="2175" b="1">
                <a:solidFill>
                  <a:srgbClr val="17363C"/>
                </a:solidFill>
                <a:latin typeface="Apple SD Gothic Neo"/>
                <a:ea typeface="Apple SD Gothic Neo"/>
                <a:cs typeface="Apple SD Gothic Neo"/>
              </a:rPr>
              <a:t>약 2~3시간  →  약 20~30분</a:t>
            </a:r>
          </a:p>
        </p:txBody>
      </p:sp>
      <p:sp>
        <p:nvSpPr>
          <p:cNvPr id="28" name="result-copy">
            <a:extLst xmlns:a="http://schemas.openxmlformats.org/drawingml/2006/main">
              <a:ext uri="{FF2B5EF4-FFF2-40B4-BE49-F238E27FC236}">
                <a16:creationId xmlns:a16="http://schemas.microsoft.com/office/drawing/2014/main" id="{083FD423-00D8-45BC-AC4E-B99571AC9B24}"/>
              </a:ext>
            </a:extLst>
          </p:cNvPr>
          <p:cNvSpPr>
            <a:spLocks xmlns:a="http://schemas.openxmlformats.org/drawingml/2006/main" noGrp="1"/>
          </p:cNvSpPr>
          <p:nvPr/>
        </p:nvSpPr>
        <p:spPr>
          <a:xfrm xmlns:a="http://schemas.openxmlformats.org/drawingml/2006/main">
            <a:off x="723900" y="5781675"/>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039"/>
          </a:bodyPr>
          <a:lstStyle xmlns:a="http://schemas.openxmlformats.org/drawingml/2006/main"/>
          <a:p xmlns:a="http://schemas.openxmlformats.org/drawingml/2006/main">
            <a:pPr algn="l">
              <a:defRPr sz="1275" b="0">
                <a:solidFill>
                  <a:srgbClr val="687779"/>
                </a:solidFill>
                <a:latin typeface="Apple SD Gothic Neo"/>
                <a:ea typeface="Apple SD Gothic Neo"/>
                <a:cs typeface="Apple SD Gothic Neo"/>
              </a:defRPr>
            </a:pPr>
            <a:r>
              <a:rPr sz="1275" b="0">
                <a:solidFill>
                  <a:srgbClr val="687779"/>
                </a:solidFill>
                <a:latin typeface="Apple SD Gothic Neo"/>
                <a:ea typeface="Apple SD Gothic Neo"/>
                <a:cs typeface="Apple SD Gothic Neo"/>
              </a:rPr>
              <a:t>진행 상황 공유와 병목 발견에 기여</a:t>
            </a:r>
          </a:p>
        </p:txBody>
      </p:sp>
      <p:sp>
        <p:nvSpPr>
          <p:cNvPr id="29" name="limit">
            <a:extLst xmlns:a="http://schemas.openxmlformats.org/drawingml/2006/main">
              <a:ext uri="{FF2B5EF4-FFF2-40B4-BE49-F238E27FC236}">
                <a16:creationId xmlns:a16="http://schemas.microsoft.com/office/drawing/2014/main" id="{3D721466-1E2F-4631-B37A-DB0579997652}"/>
              </a:ext>
            </a:extLst>
          </p:cNvPr>
          <p:cNvSpPr>
            <a:spLocks xmlns:a="http://schemas.openxmlformats.org/drawingml/2006/main" noGrp="1"/>
          </p:cNvSpPr>
          <p:nvPr/>
        </p:nvSpPr>
        <p:spPr>
          <a:xfrm xmlns:a="http://schemas.openxmlformats.org/drawingml/2006/main">
            <a:off x="6286500" y="4810125"/>
            <a:ext cx="5410200" cy="1257300"/>
          </a:xfrm>
          <a:prstGeom xmlns:a="http://schemas.openxmlformats.org/drawingml/2006/main" prst="roundRect">
            <a:avLst>
              <a:gd name="adj" fmla="val 12121"/>
            </a:avLst>
          </a:prstGeom>
          <a:solidFill xmlns:a="http://schemas.openxmlformats.org/drawingml/2006/main">
            <a:srgbClr val="F5EEE4"/>
          </a:solidFill>
          <a:ln xmlns:a="http://schemas.openxmlformats.org/drawingml/2006/main" w="0">
            <a:noFill/>
            <a:prstDash val="solid"/>
          </a:ln>
        </p:spPr>
      </p:sp>
      <p:sp>
        <p:nvSpPr>
          <p:cNvPr id="30" name="limit-label">
            <a:extLst xmlns:a="http://schemas.openxmlformats.org/drawingml/2006/main">
              <a:ext uri="{FF2B5EF4-FFF2-40B4-BE49-F238E27FC236}">
                <a16:creationId xmlns:a16="http://schemas.microsoft.com/office/drawing/2014/main" id="{B743FB52-9226-46BD-A688-4AF36B84472C}"/>
              </a:ext>
            </a:extLst>
          </p:cNvPr>
          <p:cNvSpPr>
            <a:spLocks xmlns:a="http://schemas.openxmlformats.org/drawingml/2006/main" noGrp="1"/>
          </p:cNvSpPr>
          <p:nvPr/>
        </p:nvSpPr>
        <p:spPr>
          <a:xfrm xmlns:a="http://schemas.openxmlformats.org/drawingml/2006/main">
            <a:off x="6515100" y="503872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6A05B"/>
                </a:solidFill>
                <a:latin typeface="Apple SD Gothic Neo"/>
                <a:ea typeface="Apple SD Gothic Neo"/>
                <a:cs typeface="Apple SD Gothic Neo"/>
              </a:defRPr>
            </a:pPr>
            <a:r>
              <a:rPr sz="975" b="1">
                <a:solidFill>
                  <a:srgbClr val="E6A05B"/>
                </a:solidFill>
                <a:latin typeface="Apple SD Gothic Neo"/>
                <a:ea typeface="Apple SD Gothic Neo"/>
                <a:cs typeface="Apple SD Gothic Neo"/>
              </a:rPr>
              <a:t>LIMITATION</a:t>
            </a:r>
          </a:p>
        </p:txBody>
      </p:sp>
      <p:sp>
        <p:nvSpPr>
          <p:cNvPr id="31" name="limit-copy">
            <a:extLst xmlns:a="http://schemas.openxmlformats.org/drawingml/2006/main">
              <a:ext uri="{FF2B5EF4-FFF2-40B4-BE49-F238E27FC236}">
                <a16:creationId xmlns:a16="http://schemas.microsoft.com/office/drawing/2014/main" id="{3DAEA260-6FD7-4012-B1B9-C9630B48748F}"/>
              </a:ext>
            </a:extLst>
          </p:cNvPr>
          <p:cNvSpPr>
            <a:spLocks xmlns:a="http://schemas.openxmlformats.org/drawingml/2006/main" noGrp="1"/>
          </p:cNvSpPr>
          <p:nvPr/>
        </p:nvSpPr>
        <p:spPr>
          <a:xfrm xmlns:a="http://schemas.openxmlformats.org/drawingml/2006/main">
            <a:off x="6515100" y="5362575"/>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26383C"/>
                </a:solidFill>
                <a:latin typeface="Apple SD Gothic Neo"/>
                <a:ea typeface="Apple SD Gothic Neo"/>
                <a:cs typeface="Apple SD Gothic Neo"/>
              </a:defRPr>
            </a:pPr>
            <a:r>
              <a:rPr sz="1350" b="0">
                <a:solidFill>
                  <a:srgbClr val="26383C"/>
                </a:solidFill>
                <a:latin typeface="Apple SD Gothic Neo"/>
                <a:ea typeface="Apple SD Gothic Neo"/>
                <a:cs typeface="Apple SD Gothic Neo"/>
              </a:rPr>
              <a:t>시트 개선만의 단독 효과로 검증한 수치가 아닙니다.</a:t>
            </a:r>
          </a:p>
          <a:p xmlns:a="http://schemas.openxmlformats.org/drawingml/2006/main">
            <a:pPr algn="l">
              <a:defRPr sz="1350" b="0">
                <a:solidFill>
                  <a:srgbClr val="26383C"/>
                </a:solidFill>
                <a:latin typeface="Apple SD Gothic Neo"/>
                <a:ea typeface="Apple SD Gothic Neo"/>
                <a:cs typeface="Apple SD Gothic Neo"/>
              </a:defRPr>
            </a:pPr>
            <a:r>
              <a:rPr sz="1350" b="0">
                <a:solidFill>
                  <a:srgbClr val="26383C"/>
                </a:solidFill>
                <a:latin typeface="Apple SD Gothic Neo"/>
                <a:ea typeface="Apple SD Gothic Neo"/>
                <a:cs typeface="Apple SD Gothic Neo"/>
              </a:rPr>
              <a:t>고객 수·시술 종류·인력 배치 등 운영 조건이 함께 작용했습니다.</a:t>
            </a:r>
          </a:p>
        </p:txBody>
      </p:sp>
    </p:spTree>
    <p:extLst>
      <p:ext uri="{BB962C8B-B14F-4D97-AF65-F5344CB8AC3E}">
        <p14:creationId xmlns:p14="http://schemas.microsoft.com/office/powerpoint/2010/main" val="1389329430"/>
      </p:ext>
    </p:extLst>
  </p:cSld>
</p:sld>
</file>

<file path=ppt/slides/slide7.xml><?xml version="1.0" encoding="utf-8"?>
<p:sld xmlns:p="http://schemas.openxmlformats.org/presentationml/2006/main">
  <p:cSld>
    <p:bg>
      <p:bgPr>
        <a:solidFill xmlns:a="http://schemas.openxmlformats.org/drawingml/2006/main">
          <a:srgbClr val="17363C"/>
        </a:solidFill>
      </p:bgPr>
    </p:bg>
    <p:spTree>
      <p:nvGrpSpPr>
        <p:cNvPr id="1" name=""/>
        <p:cNvGrpSpPr/>
        <p:nvPr/>
      </p:nvGrpSpPr>
      <p:grpSpPr>
        <a:xfrm xmlns:a="http://schemas.openxmlformats.org/drawingml/2006/main"/>
      </p:grpSpPr>
      <p:sp>
        <p:nvSpPr>
          <p:cNvPr id="13" name="eyebrow">
            <a:extLst xmlns:a="http://schemas.openxmlformats.org/drawingml/2006/main">
              <a:ext uri="{FF2B5EF4-FFF2-40B4-BE49-F238E27FC236}">
                <a16:creationId xmlns:a16="http://schemas.microsoft.com/office/drawing/2014/main" id="{341A7707-79B6-45A9-935B-A02FDA76E2B2}"/>
              </a:ext>
            </a:extLst>
          </p:cNvPr>
          <p:cNvSpPr>
            <a:spLocks xmlns:a="http://schemas.openxmlformats.org/drawingml/2006/main" noGrp="1"/>
          </p:cNvSpPr>
          <p:nvPr/>
        </p:nvSpPr>
        <p:spPr>
          <a:xfrm xmlns:a="http://schemas.openxmlformats.org/drawingml/2006/main">
            <a:off x="552450" y="45720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7B978"/>
                </a:solidFill>
                <a:latin typeface="Apple SD Gothic Neo"/>
                <a:ea typeface="Apple SD Gothic Neo"/>
                <a:cs typeface="Apple SD Gothic Neo"/>
              </a:defRPr>
            </a:pPr>
            <a:r>
              <a:rPr sz="1050" b="1">
                <a:solidFill>
                  <a:srgbClr val="87B978"/>
                </a:solidFill>
                <a:latin typeface="Apple SD Gothic Neo"/>
                <a:ea typeface="Apple SD Gothic Neo"/>
                <a:cs typeface="Apple SD Gothic Neo"/>
              </a:rPr>
              <a:t>WHAT THIS PROJECT PROVES</a:t>
            </a:r>
          </a:p>
        </p:txBody>
      </p:sp>
      <p:sp>
        <p:nvSpPr>
          <p:cNvPr id="2" name="title">
            <a:extLst xmlns:a="http://schemas.openxmlformats.org/drawingml/2006/main">
              <a:ext uri="{FF2B5EF4-FFF2-40B4-BE49-F238E27FC236}">
                <a16:creationId xmlns:a16="http://schemas.microsoft.com/office/drawing/2014/main" id="{E48CBD82-5446-440A-B2AA-673C97B39F64}"/>
              </a:ext>
            </a:extLst>
          </p:cNvPr>
          <p:cNvSpPr>
            <a:spLocks xmlns:a="http://schemas.openxmlformats.org/drawingml/2006/main" noGrp="1"/>
          </p:cNvSpPr>
          <p:nvPr/>
        </p:nvSpPr>
        <p:spPr>
          <a:xfrm xmlns:a="http://schemas.openxmlformats.org/drawingml/2006/main">
            <a:off x="552450" y="1257300"/>
            <a:ext cx="9525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750" b="1">
                <a:solidFill>
                  <a:srgbClr val="FFFFFF"/>
                </a:solidFill>
                <a:latin typeface="Apple SD Gothic Neo"/>
                <a:ea typeface="Apple SD Gothic Neo"/>
                <a:cs typeface="Apple SD Gothic Neo"/>
              </a:defRPr>
            </a:pPr>
            <a:r>
              <a:rPr sz="3750" b="1">
                <a:solidFill>
                  <a:srgbClr val="FFFFFF"/>
                </a:solidFill>
                <a:latin typeface="Apple SD Gothic Neo"/>
                <a:ea typeface="Apple SD Gothic Neo"/>
                <a:cs typeface="Apple SD Gothic Neo"/>
              </a:rPr>
              <a:t>현장의 복잡함을 관찰하고,</a:t>
            </a:r>
          </a:p>
          <a:p xmlns:a="http://schemas.openxmlformats.org/drawingml/2006/main">
            <a:pPr algn="l">
              <a:defRPr sz="3750" b="1">
                <a:solidFill>
                  <a:srgbClr val="FFFFFF"/>
                </a:solidFill>
                <a:latin typeface="Apple SD Gothic Neo"/>
                <a:ea typeface="Apple SD Gothic Neo"/>
                <a:cs typeface="Apple SD Gothic Neo"/>
              </a:defRPr>
            </a:pPr>
            <a:r>
              <a:rPr sz="3750" b="1">
                <a:solidFill>
                  <a:srgbClr val="FFFFFF"/>
                </a:solidFill>
                <a:latin typeface="Apple SD Gothic Neo"/>
                <a:ea typeface="Apple SD Gothic Neo"/>
                <a:cs typeface="Apple SD Gothic Neo"/>
              </a:rPr>
              <a:t>지속적으로 운영되는 구조로 바꿉니다</a:t>
            </a:r>
          </a:p>
        </p:txBody>
      </p:sp>
      <p:cxnSp>
        <p:nvCxnSpPr>
          <p:cNvPr id="15" name=""/>
          <p:cNvCxnSpPr/>
          <p:nvPr/>
        </p:nvCxnSpPr>
        <p:spPr>
          <a:xfrm xmlns:a="http://schemas.openxmlformats.org/drawingml/2006/main">
            <a:off x="552450" y="3086100"/>
            <a:ext cx="10668000" cy="0"/>
          </a:xfrm>
          <a:prstGeom xmlns:a="http://schemas.openxmlformats.org/drawingml/2006/main" prst="straightConnector1">
            <a:avLst/>
          </a:prstGeom>
          <a:ln xmlns:a="http://schemas.openxmlformats.org/drawingml/2006/main" w="38100">
            <a:solidFill>
              <a:srgbClr val="87B978"/>
            </a:solidFill>
            <a:prstDash val="solid"/>
          </a:ln>
        </p:spPr>
      </p:cxnSp>
      <p:sp>
        <p:nvSpPr>
          <p:cNvPr id="4" name="col-title-0">
            <a:extLst xmlns:a="http://schemas.openxmlformats.org/drawingml/2006/main">
              <a:ext uri="{FF2B5EF4-FFF2-40B4-BE49-F238E27FC236}">
                <a16:creationId xmlns:a16="http://schemas.microsoft.com/office/drawing/2014/main" id="{B433C33D-8E57-4553-8673-FA81F861B0A0}"/>
              </a:ext>
            </a:extLst>
          </p:cNvPr>
          <p:cNvSpPr>
            <a:spLocks xmlns:a="http://schemas.openxmlformats.org/drawingml/2006/main" noGrp="1"/>
          </p:cNvSpPr>
          <p:nvPr/>
        </p:nvSpPr>
        <p:spPr>
          <a:xfrm xmlns:a="http://schemas.openxmlformats.org/drawingml/2006/main">
            <a:off x="552450" y="360045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87B978"/>
                </a:solidFill>
                <a:latin typeface="Apple SD Gothic Neo"/>
                <a:ea typeface="Apple SD Gothic Neo"/>
                <a:cs typeface="Apple SD Gothic Neo"/>
              </a:defRPr>
            </a:pPr>
            <a:r>
              <a:rPr sz="1875" b="1">
                <a:solidFill>
                  <a:srgbClr val="87B978"/>
                </a:solidFill>
                <a:latin typeface="Apple SD Gothic Neo"/>
                <a:ea typeface="Apple SD Gothic Neo"/>
                <a:cs typeface="Apple SD Gothic Neo"/>
              </a:rPr>
              <a:t>현장 이해</a:t>
            </a:r>
          </a:p>
        </p:txBody>
      </p:sp>
      <p:sp>
        <p:nvSpPr>
          <p:cNvPr id="5" name="col-body-0">
            <a:extLst xmlns:a="http://schemas.openxmlformats.org/drawingml/2006/main">
              <a:ext uri="{FF2B5EF4-FFF2-40B4-BE49-F238E27FC236}">
                <a16:creationId xmlns:a16="http://schemas.microsoft.com/office/drawing/2014/main" id="{8A4A5DFF-4BF9-4D95-AD52-EC7E73030B80}"/>
              </a:ext>
            </a:extLst>
          </p:cNvPr>
          <p:cNvSpPr>
            <a:spLocks xmlns:a="http://schemas.openxmlformats.org/drawingml/2006/main" noGrp="1"/>
          </p:cNvSpPr>
          <p:nvPr/>
        </p:nvSpPr>
        <p:spPr>
          <a:xfrm xmlns:a="http://schemas.openxmlformats.org/drawingml/2006/main">
            <a:off x="552450" y="4114800"/>
            <a:ext cx="304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D9E4E1"/>
                </a:solidFill>
                <a:latin typeface="Apple SD Gothic Neo"/>
                <a:ea typeface="Apple SD Gothic Neo"/>
                <a:cs typeface="Apple SD Gothic Neo"/>
              </a:defRPr>
            </a:pPr>
            <a:r>
              <a:rPr sz="1500" b="0">
                <a:solidFill>
                  <a:srgbClr val="D9E4E1"/>
                </a:solidFill>
                <a:latin typeface="Apple SD Gothic Neo"/>
                <a:ea typeface="Apple SD Gothic Neo"/>
                <a:cs typeface="Apple SD Gothic Neo"/>
              </a:rPr>
              <a:t>상담·간호·관리·의료진의</a:t>
            </a:r>
          </a:p>
          <a:p xmlns:a="http://schemas.openxmlformats.org/drawingml/2006/main">
            <a:pPr algn="l">
              <a:defRPr sz="1500" b="0">
                <a:solidFill>
                  <a:srgbClr val="D9E4E1"/>
                </a:solidFill>
                <a:latin typeface="Apple SD Gothic Neo"/>
                <a:ea typeface="Apple SD Gothic Neo"/>
                <a:cs typeface="Apple SD Gothic Neo"/>
              </a:defRPr>
            </a:pPr>
            <a:r>
              <a:rPr sz="1500" b="0">
                <a:solidFill>
                  <a:srgbClr val="D9E4E1"/>
                </a:solidFill>
                <a:latin typeface="Apple SD Gothic Neo"/>
                <a:ea typeface="Apple SD Gothic Neo"/>
                <a:cs typeface="Apple SD Gothic Neo"/>
              </a:rPr>
              <a:t>서로 다른 정보 사용 방식 파악</a:t>
            </a:r>
          </a:p>
        </p:txBody>
      </p:sp>
      <p:sp>
        <p:nvSpPr>
          <p:cNvPr id="6" name="col-title-1">
            <a:extLst xmlns:a="http://schemas.openxmlformats.org/drawingml/2006/main">
              <a:ext uri="{FF2B5EF4-FFF2-40B4-BE49-F238E27FC236}">
                <a16:creationId xmlns:a16="http://schemas.microsoft.com/office/drawing/2014/main" id="{A28F0FFA-EE43-40B8-B6EC-1C07A35EA78A}"/>
              </a:ext>
            </a:extLst>
          </p:cNvPr>
          <p:cNvSpPr>
            <a:spLocks xmlns:a="http://schemas.openxmlformats.org/drawingml/2006/main" noGrp="1"/>
          </p:cNvSpPr>
          <p:nvPr/>
        </p:nvSpPr>
        <p:spPr>
          <a:xfrm xmlns:a="http://schemas.openxmlformats.org/drawingml/2006/main">
            <a:off x="4267200" y="360045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87B978"/>
                </a:solidFill>
                <a:latin typeface="Apple SD Gothic Neo"/>
                <a:ea typeface="Apple SD Gothic Neo"/>
                <a:cs typeface="Apple SD Gothic Neo"/>
              </a:defRPr>
            </a:pPr>
            <a:r>
              <a:rPr sz="1875" b="1">
                <a:solidFill>
                  <a:srgbClr val="87B978"/>
                </a:solidFill>
                <a:latin typeface="Apple SD Gothic Neo"/>
                <a:ea typeface="Apple SD Gothic Neo"/>
                <a:cs typeface="Apple SD Gothic Neo"/>
              </a:rPr>
              <a:t>정보 설계</a:t>
            </a:r>
          </a:p>
        </p:txBody>
      </p:sp>
      <p:sp>
        <p:nvSpPr>
          <p:cNvPr id="7" name="col-body-1">
            <a:extLst xmlns:a="http://schemas.openxmlformats.org/drawingml/2006/main">
              <a:ext uri="{FF2B5EF4-FFF2-40B4-BE49-F238E27FC236}">
                <a16:creationId xmlns:a16="http://schemas.microsoft.com/office/drawing/2014/main" id="{95B8E9CA-4865-4334-9B9E-DFEE081BA6E1}"/>
              </a:ext>
            </a:extLst>
          </p:cNvPr>
          <p:cNvSpPr>
            <a:spLocks xmlns:a="http://schemas.openxmlformats.org/drawingml/2006/main" noGrp="1"/>
          </p:cNvSpPr>
          <p:nvPr/>
        </p:nvSpPr>
        <p:spPr>
          <a:xfrm xmlns:a="http://schemas.openxmlformats.org/drawingml/2006/main">
            <a:off x="4267200" y="4114800"/>
            <a:ext cx="304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D9E4E1"/>
                </a:solidFill>
                <a:latin typeface="Apple SD Gothic Neo"/>
                <a:ea typeface="Apple SD Gothic Neo"/>
                <a:cs typeface="Apple SD Gothic Neo"/>
              </a:defRPr>
            </a:pPr>
            <a:r>
              <a:rPr sz="1500" b="0">
                <a:solidFill>
                  <a:srgbClr val="D9E4E1"/>
                </a:solidFill>
                <a:latin typeface="Apple SD Gothic Neo"/>
                <a:ea typeface="Apple SD Gothic Neo"/>
                <a:cs typeface="Apple SD Gothic Neo"/>
              </a:rPr>
              <a:t>고객 단계·담당자·시간을</a:t>
            </a:r>
          </a:p>
          <a:p xmlns:a="http://schemas.openxmlformats.org/drawingml/2006/main">
            <a:pPr algn="l">
              <a:defRPr sz="1500" b="0">
                <a:solidFill>
                  <a:srgbClr val="D9E4E1"/>
                </a:solidFill>
                <a:latin typeface="Apple SD Gothic Neo"/>
                <a:ea typeface="Apple SD Gothic Neo"/>
                <a:cs typeface="Apple SD Gothic Neo"/>
              </a:defRPr>
            </a:pPr>
            <a:r>
              <a:rPr sz="1500" b="0">
                <a:solidFill>
                  <a:srgbClr val="D9E4E1"/>
                </a:solidFill>
                <a:latin typeface="Apple SD Gothic Neo"/>
                <a:ea typeface="Apple SD Gothic Neo"/>
                <a:cs typeface="Apple SD Gothic Neo"/>
              </a:rPr>
              <a:t>다음 행동 중심으로 재구성</a:t>
            </a:r>
          </a:p>
        </p:txBody>
      </p:sp>
      <p:sp>
        <p:nvSpPr>
          <p:cNvPr id="8" name="col-title-2">
            <a:extLst xmlns:a="http://schemas.openxmlformats.org/drawingml/2006/main">
              <a:ext uri="{FF2B5EF4-FFF2-40B4-BE49-F238E27FC236}">
                <a16:creationId xmlns:a16="http://schemas.microsoft.com/office/drawing/2014/main" id="{681764FD-47CD-4DB2-BE46-08211166F380}"/>
              </a:ext>
            </a:extLst>
          </p:cNvPr>
          <p:cNvSpPr>
            <a:spLocks xmlns:a="http://schemas.openxmlformats.org/drawingml/2006/main" noGrp="1"/>
          </p:cNvSpPr>
          <p:nvPr/>
        </p:nvSpPr>
        <p:spPr>
          <a:xfrm xmlns:a="http://schemas.openxmlformats.org/drawingml/2006/main">
            <a:off x="7981950" y="360045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87B978"/>
                </a:solidFill>
                <a:latin typeface="Apple SD Gothic Neo"/>
                <a:ea typeface="Apple SD Gothic Neo"/>
                <a:cs typeface="Apple SD Gothic Neo"/>
              </a:defRPr>
            </a:pPr>
            <a:r>
              <a:rPr sz="1875" b="1">
                <a:solidFill>
                  <a:srgbClr val="87B978"/>
                </a:solidFill>
                <a:latin typeface="Apple SD Gothic Neo"/>
                <a:ea typeface="Apple SD Gothic Neo"/>
                <a:cs typeface="Apple SD Gothic Neo"/>
              </a:rPr>
              <a:t>실행과 개선</a:t>
            </a:r>
          </a:p>
        </p:txBody>
      </p:sp>
      <p:sp>
        <p:nvSpPr>
          <p:cNvPr id="9" name="col-body-2">
            <a:extLst xmlns:a="http://schemas.openxmlformats.org/drawingml/2006/main">
              <a:ext uri="{FF2B5EF4-FFF2-40B4-BE49-F238E27FC236}">
                <a16:creationId xmlns:a16="http://schemas.microsoft.com/office/drawing/2014/main" id="{DA905AA8-4172-4A0F-89EF-F8520F9C390D}"/>
              </a:ext>
            </a:extLst>
          </p:cNvPr>
          <p:cNvSpPr>
            <a:spLocks xmlns:a="http://schemas.openxmlformats.org/drawingml/2006/main" noGrp="1"/>
          </p:cNvSpPr>
          <p:nvPr/>
        </p:nvSpPr>
        <p:spPr>
          <a:xfrm xmlns:a="http://schemas.openxmlformats.org/drawingml/2006/main">
            <a:off x="7981950" y="4114800"/>
            <a:ext cx="304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D9E4E1"/>
                </a:solidFill>
                <a:latin typeface="Apple SD Gothic Neo"/>
                <a:ea typeface="Apple SD Gothic Neo"/>
                <a:cs typeface="Apple SD Gothic Neo"/>
              </a:defRPr>
            </a:pPr>
            <a:r>
              <a:rPr sz="1500" b="0">
                <a:solidFill>
                  <a:srgbClr val="D9E4E1"/>
                </a:solidFill>
                <a:latin typeface="Apple SD Gothic Neo"/>
                <a:ea typeface="Apple SD Gothic Neo"/>
                <a:cs typeface="Apple SD Gothic Neo"/>
              </a:rPr>
              <a:t>Apps Script 구현부터</a:t>
            </a:r>
          </a:p>
          <a:p xmlns:a="http://schemas.openxmlformats.org/drawingml/2006/main">
            <a:pPr algn="l">
              <a:defRPr sz="1500" b="0">
                <a:solidFill>
                  <a:srgbClr val="D9E4E1"/>
                </a:solidFill>
                <a:latin typeface="Apple SD Gothic Neo"/>
                <a:ea typeface="Apple SD Gothic Neo"/>
                <a:cs typeface="Apple SD Gothic Neo"/>
              </a:defRPr>
            </a:pPr>
            <a:r>
              <a:rPr sz="1500" b="0">
                <a:solidFill>
                  <a:srgbClr val="D9E4E1"/>
                </a:solidFill>
                <a:latin typeface="Apple SD Gothic Neo"/>
                <a:ea typeface="Apple SD Gothic Neo"/>
                <a:cs typeface="Apple SD Gothic Neo"/>
              </a:rPr>
              <a:t>실사용 피드백 반영까지</a:t>
            </a:r>
          </a:p>
        </p:txBody>
      </p:sp>
      <p:sp>
        <p:nvSpPr>
          <p:cNvPr id="10" name="final">
            <a:extLst xmlns:a="http://schemas.openxmlformats.org/drawingml/2006/main">
              <a:ext uri="{FF2B5EF4-FFF2-40B4-BE49-F238E27FC236}">
                <a16:creationId xmlns:a16="http://schemas.microsoft.com/office/drawing/2014/main" id="{25803F3A-D61C-4F8F-8387-FA89D0C248C2}"/>
              </a:ext>
            </a:extLst>
          </p:cNvPr>
          <p:cNvSpPr>
            <a:spLocks xmlns:a="http://schemas.openxmlformats.org/drawingml/2006/main" noGrp="1"/>
          </p:cNvSpPr>
          <p:nvPr/>
        </p:nvSpPr>
        <p:spPr>
          <a:xfrm xmlns:a="http://schemas.openxmlformats.org/drawingml/2006/main">
            <a:off x="552450" y="5448300"/>
            <a:ext cx="9810750" cy="590550"/>
          </a:xfrm>
          <a:prstGeom xmlns:a="http://schemas.openxmlformats.org/drawingml/2006/main" prst="roundRect">
            <a:avLst>
              <a:gd name="adj" fmla="val 16129"/>
            </a:avLst>
          </a:prstGeom>
          <a:solidFill xmlns:a="http://schemas.openxmlformats.org/drawingml/2006/main">
            <a:srgbClr val="DDECDD"/>
          </a:solidFill>
          <a:ln xmlns:a="http://schemas.openxmlformats.org/drawingml/2006/main" w="0">
            <a:noFill/>
            <a:prstDash val="solid"/>
          </a:ln>
        </p:spPr>
      </p:sp>
      <p:sp>
        <p:nvSpPr>
          <p:cNvPr id="11" name="final-text">
            <a:extLst xmlns:a="http://schemas.openxmlformats.org/drawingml/2006/main">
              <a:ext uri="{FF2B5EF4-FFF2-40B4-BE49-F238E27FC236}">
                <a16:creationId xmlns:a16="http://schemas.microsoft.com/office/drawing/2014/main" id="{EC258EE9-E602-4AEF-81A6-77A435D046C2}"/>
              </a:ext>
            </a:extLst>
          </p:cNvPr>
          <p:cNvSpPr>
            <a:spLocks xmlns:a="http://schemas.openxmlformats.org/drawingml/2006/main" noGrp="1"/>
          </p:cNvSpPr>
          <p:nvPr/>
        </p:nvSpPr>
        <p:spPr>
          <a:xfrm xmlns:a="http://schemas.openxmlformats.org/drawingml/2006/main">
            <a:off x="781050" y="56197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7363C"/>
                </a:solidFill>
                <a:latin typeface="Apple SD Gothic Neo"/>
                <a:ea typeface="Apple SD Gothic Neo"/>
                <a:cs typeface="Apple SD Gothic Neo"/>
              </a:defRPr>
            </a:pPr>
            <a:r>
              <a:rPr sz="1575" b="1">
                <a:solidFill>
                  <a:srgbClr val="17363C"/>
                </a:solidFill>
                <a:latin typeface="Apple SD Gothic Neo"/>
                <a:ea typeface="Apple SD Gothic Neo"/>
                <a:cs typeface="Apple SD Gothic Neo"/>
              </a:rPr>
              <a:t>고객에게는 이해하기 쉬운 정보를, 병원에는 실질적으로 운영되는 콘텐츠와 도구를.</a:t>
            </a:r>
          </a:p>
        </p:txBody>
      </p:sp>
      <p:sp>
        <p:nvSpPr>
          <p:cNvPr id="12" name="page-7">
            <a:extLst xmlns:a="http://schemas.openxmlformats.org/drawingml/2006/main">
              <a:ext uri="{FF2B5EF4-FFF2-40B4-BE49-F238E27FC236}">
                <a16:creationId xmlns:a16="http://schemas.microsoft.com/office/drawing/2014/main" id="{6CC01A39-B23E-43AB-AC19-D8CCF9E88FE6}"/>
              </a:ext>
            </a:extLst>
          </p:cNvPr>
          <p:cNvSpPr>
            <a:spLocks xmlns:a="http://schemas.openxmlformats.org/drawingml/2006/main" noGrp="1"/>
          </p:cNvSpPr>
          <p:nvPr/>
        </p:nvSpPr>
        <p:spPr>
          <a:xfrm xmlns:a="http://schemas.openxmlformats.org/drawingml/2006/main">
            <a:off x="11334750" y="6419850"/>
            <a:ext cx="3238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9BB0AC"/>
                </a:solidFill>
                <a:latin typeface="Apple SD Gothic Neo"/>
                <a:ea typeface="Apple SD Gothic Neo"/>
                <a:cs typeface="Apple SD Gothic Neo"/>
              </a:defRPr>
            </a:pPr>
            <a:r>
              <a:rPr sz="900" b="1">
                <a:solidFill>
                  <a:srgbClr val="9BB0AC"/>
                </a:solidFill>
                <a:latin typeface="Apple SD Gothic Neo"/>
                <a:ea typeface="Apple SD Gothic Neo"/>
                <a:cs typeface="Apple SD Gothic Neo"/>
              </a:rPr>
              <a:t>07</a:t>
            </a:r>
          </a:p>
        </p:txBody>
      </p:sp>
    </p:spTree>
    <p:extLst>
      <p:ext uri="{BB962C8B-B14F-4D97-AF65-F5344CB8AC3E}">
        <p14:creationId xmlns:p14="http://schemas.microsoft.com/office/powerpoint/2010/main" val="12344802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2026-08-11T06:04:00.2190000Z</dcterms:created>
  <dcterms:modified xsi:type="dcterms:W3CDTF">2026-08-11T06:04:00.2190000Z</dcterms:modified>
</coreProperties>
</file>